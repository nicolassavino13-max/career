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3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49240"/>
            <a:ext cx="12188952" cy="1508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5156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OceanPact (OPCT3)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06040"/>
            <a:ext cx="1051560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000" b="1">
                <a:solidFill>
                  <a:srgbClr val="ED7D31"/>
                </a:solidFill>
                <a:latin typeface="Arial"/>
              </a:rPr>
              <a:t>Vai faltar barco!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532120"/>
            <a:ext cx="1005840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C8D2E6"/>
                </a:solidFill>
                <a:latin typeface="Arial"/>
              </a:rPr>
              <a:t>Market Makers FIA  ·  Tese de investimento  ·  Maio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Escassez de OSVs, diárias em alta e múltiplo descontado posicionam a OceanPact como forte pagadora de dividendos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Tese Market Makers FIA — maio/2026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Market Makers FIA; estimativas da casa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645920"/>
            <a:ext cx="5349240" cy="1874519"/>
          </a:xfrm>
          <a:prstGeom prst="rect">
            <a:avLst/>
          </a:prstGeom>
          <a:solidFill>
            <a:srgbClr val="FFFFFF"/>
          </a:solidFill>
          <a:ln w="254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493776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rial"/>
              </a:rPr>
              <a:t>CAPEX Petrobras 26–30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31720"/>
            <a:ext cx="493776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4000" b="1">
                <a:solidFill>
                  <a:srgbClr val="008080"/>
                </a:solidFill>
                <a:latin typeface="Arial"/>
              </a:rPr>
              <a:t>US$ 109 bi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645920"/>
            <a:ext cx="5349240" cy="1874519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828800"/>
            <a:ext cx="493776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rial"/>
              </a:rPr>
              <a:t>Diárias PSV BR (21→25)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331720"/>
            <a:ext cx="493776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4000" b="1">
                <a:solidFill>
                  <a:srgbClr val="ED7D31"/>
                </a:solidFill>
                <a:latin typeface="Arial"/>
              </a:rPr>
              <a:t>+119%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703320"/>
            <a:ext cx="5349240" cy="1874519"/>
          </a:xfrm>
          <a:prstGeom prst="rect">
            <a:avLst/>
          </a:prstGeom>
          <a:solidFill>
            <a:srgbClr val="FFFFFF"/>
          </a:solidFill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886200"/>
            <a:ext cx="493776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rial"/>
              </a:rPr>
              <a:t>EV/EBITDA 26E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89120"/>
            <a:ext cx="493776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4000" b="1">
                <a:solidFill>
                  <a:srgbClr val="002060"/>
                </a:solidFill>
                <a:latin typeface="Arial"/>
              </a:rPr>
              <a:t>3,7x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703320"/>
            <a:ext cx="5349240" cy="1874519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886200"/>
            <a:ext cx="493776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rial"/>
              </a:rPr>
              <a:t>Div. acum. 3 anos (est.)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389120"/>
            <a:ext cx="493776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4000" b="1">
                <a:solidFill>
                  <a:srgbClr val="ED7D31"/>
                </a:solidFill>
                <a:latin typeface="Arial"/>
              </a:rPr>
              <a:t>~67%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Três pilares estruturam por que a OceanPact é a melhor porta de entrada no ciclo offshore brasileiro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Agenda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352044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600200"/>
            <a:ext cx="502920" cy="38404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880360"/>
            <a:ext cx="36576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274320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800" b="1">
                <a:solidFill>
                  <a:srgbClr val="002060"/>
                </a:solidFill>
                <a:latin typeface="Arial"/>
              </a:rPr>
              <a:t>Escassez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423160"/>
            <a:ext cx="2743200" cy="2286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Arial"/>
              </a:rPr>
              <a:t>Oferta comprimida
Demanda Petrobras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600200"/>
            <a:ext cx="352044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600200"/>
            <a:ext cx="502920" cy="38404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2" y="2880360"/>
            <a:ext cx="36576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1828800"/>
            <a:ext cx="274320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800" b="1">
                <a:solidFill>
                  <a:srgbClr val="008080"/>
                </a:solidFill>
                <a:latin typeface="Arial"/>
              </a:rPr>
              <a:t>Alavancagem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423160"/>
            <a:ext cx="2743200" cy="2286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Arial"/>
              </a:rPr>
              <a:t>Diárias reprecificadas
EBITDA dispara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1600200"/>
            <a:ext cx="352044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600200"/>
            <a:ext cx="502920" cy="3840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2880360"/>
            <a:ext cx="36576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1828800"/>
            <a:ext cx="274320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800" b="1">
                <a:solidFill>
                  <a:srgbClr val="ED7D31"/>
                </a:solidFill>
                <a:latin typeface="Arial"/>
              </a:rPr>
              <a:t>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423160"/>
            <a:ext cx="2743200" cy="2286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Arial"/>
              </a:rPr>
              <a:t>Múltiplo + claims
Fusão CBO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O boom de 2010–14 destruiu frota e crédito; a virada de 2021–26 recria escassez estrutural de OSVs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Índice de diárias PSV grandes — Brasil (2014=100)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ABEAM; Clarksons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122714"/>
            <a:ext cx="2594610" cy="130628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474720"/>
            <a:ext cx="259461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2014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802674"/>
            <a:ext cx="259461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008080"/>
                </a:solidFill>
                <a:latin typeface="Arial"/>
              </a:rPr>
              <a:t>100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7570" y="3063240"/>
            <a:ext cx="2594610" cy="36575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7570" y="3474720"/>
            <a:ext cx="259461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2017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7570" y="2743200"/>
            <a:ext cx="259461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C00000"/>
                </a:solidFill>
                <a:latin typeface="Arial"/>
              </a:rPr>
              <a:t>28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9340" y="2841171"/>
            <a:ext cx="2594610" cy="58782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9340" y="3474720"/>
            <a:ext cx="259461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2021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9340" y="2521131"/>
            <a:ext cx="259461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595959"/>
                </a:solidFill>
                <a:latin typeface="Arial"/>
              </a:rPr>
              <a:t>45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81110" y="1874519"/>
            <a:ext cx="2594610" cy="1554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81110" y="3474720"/>
            <a:ext cx="259461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1110" y="1554479"/>
            <a:ext cx="259461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ED7D31"/>
                </a:solidFill>
                <a:latin typeface="Arial"/>
              </a:rPr>
              <a:t>119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114800"/>
            <a:ext cx="3291840" cy="132588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4224528"/>
            <a:ext cx="301752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2010–14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4498848"/>
            <a:ext cx="301752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Boom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4892040"/>
            <a:ext cx="301752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500+ barcos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023360" y="4617720"/>
            <a:ext cx="274320" cy="320040"/>
          </a:xfrm>
          <a:prstGeom prst="rightArrow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114800"/>
            <a:ext cx="3291840" cy="13258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3128" y="4224528"/>
            <a:ext cx="301752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2015–20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8" y="4498848"/>
            <a:ext cx="301752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Crise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3128" y="4892040"/>
            <a:ext cx="301752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−60–80%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680960" y="4617720"/>
            <a:ext cx="274320" cy="32004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1000" y="4114800"/>
            <a:ext cx="3291840" cy="13258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10727" y="4224528"/>
            <a:ext cx="301752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2021–26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0727" y="4498848"/>
            <a:ext cx="301752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Virada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10727" y="4892040"/>
            <a:ext cx="301752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~2x diárias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Porém, oferta nova só chega em 2028+ — e diárias atuais ainda não justificam construir navio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TIR da construção de PSV vs WACC do setor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Estimativas Market Makers; Clarksons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968496"/>
            <a:ext cx="1584960" cy="51206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526280"/>
            <a:ext cx="158496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TIR PSV
novo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48456"/>
            <a:ext cx="158496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ED7D31"/>
                </a:solidFill>
                <a:latin typeface="Arial"/>
              </a:rPr>
              <a:t>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62199" y="3740912"/>
            <a:ext cx="1584960" cy="7396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62199" y="4526280"/>
            <a:ext cx="158496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WACC
setor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62199" y="3420872"/>
            <a:ext cx="158496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C00000"/>
                </a:solidFill>
                <a:latin typeface="Arial"/>
              </a:rPr>
              <a:t>13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84320" y="1920240"/>
            <a:ext cx="1584960" cy="2560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4320" y="4526280"/>
            <a:ext cx="158496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Diária mín.
VPL&gt;0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4320" y="1600200"/>
            <a:ext cx="158496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008080"/>
                </a:solidFill>
                <a:latin typeface="Arial"/>
              </a:rPr>
              <a:t>45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1920240"/>
            <a:ext cx="45720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148840"/>
            <a:ext cx="429768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4400" b="1">
                <a:solidFill>
                  <a:srgbClr val="ED7D31"/>
                </a:solidFill>
                <a:latin typeface="Arial"/>
              </a:rPr>
              <a:t>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971800"/>
            <a:ext cx="429768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Arial"/>
              </a:rPr>
              <a:t>TIR atual — abaixo do custo de capital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737360"/>
            <a:ext cx="56235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1847088"/>
            <a:ext cx="22860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1">
                <a:solidFill>
                  <a:srgbClr val="002060"/>
                </a:solidFill>
                <a:latin typeface="Arial"/>
              </a:rPr>
              <a:t>Pedidos globais PSV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1874519"/>
            <a:ext cx="1097280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1938528"/>
            <a:ext cx="109728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Alto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1901952"/>
            <a:ext cx="182880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1">
                <a:solidFill>
                  <a:srgbClr val="002060"/>
                </a:solidFill>
                <a:latin typeface="Arial"/>
              </a:rPr>
              <a:t>&lt;50 vs 250+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2606039"/>
            <a:ext cx="56235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2715768"/>
            <a:ext cx="22860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1">
                <a:solidFill>
                  <a:srgbClr val="002060"/>
                </a:solidFill>
                <a:latin typeface="Arial"/>
              </a:rPr>
              <a:t>AHTS grande em obra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03920" y="2743199"/>
            <a:ext cx="109728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2807208"/>
            <a:ext cx="109728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Crítico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60" y="2770632"/>
            <a:ext cx="182880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1">
                <a:solidFill>
                  <a:srgbClr val="002060"/>
                </a:solidFill>
                <a:latin typeface="Arial"/>
              </a:rPr>
              <a:t>Zero no mundo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3474720"/>
            <a:ext cx="56235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3584448"/>
            <a:ext cx="22860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1">
                <a:solidFill>
                  <a:srgbClr val="002060"/>
                </a:solidFill>
                <a:latin typeface="Arial"/>
              </a:rPr>
              <a:t>Idade média frota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3611879"/>
            <a:ext cx="1097280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0" y="3675887"/>
            <a:ext cx="109728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Alto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60" y="3639312"/>
            <a:ext cx="182880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1">
                <a:solidFill>
                  <a:srgbClr val="002060"/>
                </a:solidFill>
                <a:latin typeface="Arial"/>
              </a:rPr>
              <a:t>13a → 17a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9320" y="4343400"/>
            <a:ext cx="56235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4453128"/>
            <a:ext cx="22860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1">
                <a:solidFill>
                  <a:srgbClr val="002060"/>
                </a:solidFill>
                <a:latin typeface="Arial"/>
              </a:rPr>
              <a:t>Entrega navio novo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03920" y="4480560"/>
            <a:ext cx="109728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20" y="4544568"/>
            <a:ext cx="109728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Crítico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38360" y="4507992"/>
            <a:ext cx="182880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1">
                <a:solidFill>
                  <a:srgbClr val="002060"/>
                </a:solidFill>
                <a:latin typeface="Arial"/>
              </a:rPr>
              <a:t>2028+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O capex de US$ 109 bi da Petrobras 2026–30 ancora demanda por OSVs no Brasil por uma década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Plano Estratégico 2026–30 — composição do CAPEX (US$ bi)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Petrobras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1078992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1">
                <a:solidFill>
                  <a:srgbClr val="002060"/>
                </a:solidFill>
                <a:latin typeface="Arial"/>
              </a:rPr>
              <a:t>CAPEX total US$ 109 bi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514600"/>
            <a:ext cx="7721227" cy="7772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720339"/>
            <a:ext cx="7574923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E&amp;P US$ 78 bi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07027" y="2514600"/>
            <a:ext cx="1009698" cy="7772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0179" y="2720339"/>
            <a:ext cx="863394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Descom. US$ 10,2 bi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6726" y="2514600"/>
            <a:ext cx="2058993" cy="77724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89878" y="2720339"/>
            <a:ext cx="1912689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Outros US$ 20,8 bi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737360"/>
            <a:ext cx="1005840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Arial"/>
              </a:rPr>
              <a:t>19 FPSOs → demanda estimada de 30+ embarcações adicionais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793932"/>
            <a:ext cx="2594610" cy="2352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074920"/>
            <a:ext cx="259461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FPSOs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473892"/>
            <a:ext cx="259461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002060"/>
                </a:solidFill>
                <a:latin typeface="Arial"/>
              </a:rPr>
              <a:t>19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17570" y="4657725"/>
            <a:ext cx="2594610" cy="3714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7570" y="5074920"/>
            <a:ext cx="259461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Navios+
(est.)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7570" y="4337685"/>
            <a:ext cx="259461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ED7D31"/>
                </a:solidFill>
                <a:latin typeface="Arial"/>
              </a:rPr>
              <a:t>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4979670"/>
            <a:ext cx="2594610" cy="4953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49340" y="5074920"/>
            <a:ext cx="259461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Contrato
(anos)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9340" y="4659630"/>
            <a:ext cx="259461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008080"/>
                </a:solidFill>
                <a:latin typeface="Arial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81110" y="3840480"/>
            <a:ext cx="2594610" cy="1188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81110" y="5074920"/>
            <a:ext cx="259461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Frota BR
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1110" y="3520440"/>
            <a:ext cx="259461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008080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A OceanPact é uma plataforma offshore integrada — o barco é só parte da solução operacional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Mix de receita e ativos — 1T26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OceanPact; Market Makers FIA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08760"/>
            <a:ext cx="1078992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1">
                <a:solidFill>
                  <a:srgbClr val="002060"/>
                </a:solidFill>
                <a:latin typeface="Arial"/>
              </a:rPr>
              <a:t>Segmentos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5934456" cy="6400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965960"/>
            <a:ext cx="5788152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Embarcações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0256" y="1828800"/>
            <a:ext cx="4855464" cy="6400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3408" y="1965960"/>
            <a:ext cx="470916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Serviços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788920"/>
            <a:ext cx="521208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898648"/>
            <a:ext cx="493776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Frota operacional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200400"/>
            <a:ext cx="4937760" cy="502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600" b="1">
                <a:solidFill>
                  <a:srgbClr val="002060"/>
                </a:solidFill>
                <a:latin typeface="Arial"/>
              </a:rPr>
              <a:t>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03320"/>
            <a:ext cx="493776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embarcações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2788920"/>
            <a:ext cx="521208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898648"/>
            <a:ext cx="493776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ROVs work class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200400"/>
            <a:ext cx="4937760" cy="502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600" b="1">
                <a:solidFill>
                  <a:srgbClr val="008080"/>
                </a:solidFill>
                <a:latin typeface="Arial"/>
              </a:rPr>
              <a:t>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703320"/>
            <a:ext cx="493776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unidades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206240"/>
            <a:ext cx="521208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315968"/>
            <a:ext cx="493776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Receita Petrobras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617720"/>
            <a:ext cx="4937760" cy="502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600" b="1">
                <a:solidFill>
                  <a:srgbClr val="ED7D31"/>
                </a:solidFill>
                <a:latin typeface="Arial"/>
              </a:rPr>
              <a:t>53%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120640"/>
            <a:ext cx="493776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do total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4206240"/>
            <a:ext cx="521208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4315968"/>
            <a:ext cx="493776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RSV/OSRV mix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617720"/>
            <a:ext cx="4937760" cy="502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600" b="1">
                <a:solidFill>
                  <a:srgbClr val="548235"/>
                </a:solidFill>
                <a:latin typeface="Arial"/>
              </a:rPr>
              <a:t>Alta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5120640"/>
            <a:ext cx="493776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recorrência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Reprecificação de contratos faz receita incremental alavancar o EBITDA de forma desproporcional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Ponte EBITDA — reprecificação RSV (exemplo Feiticeiras)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OceanPact 1T26; estimativas Market Makers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" y="3680459"/>
            <a:ext cx="1568196" cy="52578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3387851"/>
            <a:ext cx="1568196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200" b="1">
                <a:solidFill>
                  <a:srgbClr val="595959"/>
                </a:solidFill>
                <a:latin typeface="Arial"/>
              </a:rPr>
              <a:t>US$ 3,8M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4251959"/>
            <a:ext cx="1568196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EBITDA
legado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73452" y="3228289"/>
            <a:ext cx="1568196" cy="9464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3452" y="2935681"/>
            <a:ext cx="1568196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200" b="1">
                <a:solidFill>
                  <a:srgbClr val="008080"/>
                </a:solidFill>
                <a:latin typeface="Arial"/>
              </a:rPr>
              <a:t>+78%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73452" y="4251959"/>
            <a:ext cx="1568196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Nova
diária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87952" y="3407054"/>
            <a:ext cx="1568196" cy="7360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87952" y="3114446"/>
            <a:ext cx="1568196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200" b="1">
                <a:solidFill>
                  <a:srgbClr val="ED7D31"/>
                </a:solidFill>
                <a:latin typeface="Arial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7952" y="4251959"/>
            <a:ext cx="1568196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Margem
incremental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02452" y="2954883"/>
            <a:ext cx="1568196" cy="115671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02452" y="2662275"/>
            <a:ext cx="1568196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200" b="1">
                <a:solidFill>
                  <a:srgbClr val="002060"/>
                </a:solidFill>
                <a:latin typeface="Arial"/>
              </a:rPr>
              <a:t>US$ 15,3M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2452" y="4251959"/>
            <a:ext cx="1568196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EBITDA
novo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18120" y="1920240"/>
            <a:ext cx="3749039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0" y="2148840"/>
            <a:ext cx="347472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4400" b="1">
                <a:solidFill>
                  <a:srgbClr val="ED7D31"/>
                </a:solidFill>
                <a:latin typeface="Arial"/>
              </a:rPr>
              <a:t>+303%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2971800"/>
            <a:ext cx="347472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Arial"/>
              </a:rPr>
              <a:t>EBITDA do barco
(Feiticeiras)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5232861"/>
            <a:ext cx="2194560" cy="2493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303520"/>
            <a:ext cx="219456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Rec.+8%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912821"/>
            <a:ext cx="219456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595959"/>
                </a:solidFill>
                <a:latin typeface="Arial"/>
              </a:rPr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5164281"/>
            <a:ext cx="2194560" cy="9351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17520" y="5303520"/>
            <a:ext cx="219456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EBITDA+30%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4844241"/>
            <a:ext cx="219456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008080"/>
                </a:solidFill>
                <a:latin typeface="Arial"/>
              </a:rPr>
              <a:t>30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49240" y="4983480"/>
            <a:ext cx="2194560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49240" y="5303520"/>
            <a:ext cx="219456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Cob.88%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4663440"/>
            <a:ext cx="219456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002060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Negociada a 3,7x EV/EBITDA, a OceanPact é a mais descontada do setor com caixa e claims visíveis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EV/EBITDA 26E — OceanPact vs referências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Market Makers FIA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356457"/>
            <a:ext cx="1725930" cy="139842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800600"/>
            <a:ext cx="172593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OPCT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36417"/>
            <a:ext cx="172593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ED7D31"/>
                </a:solidFill>
                <a:latin typeface="Arial"/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8890" y="3583228"/>
            <a:ext cx="1725930" cy="1171651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48890" y="4800600"/>
            <a:ext cx="172593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OPCT
adj.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8890" y="3263188"/>
            <a:ext cx="172593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008080"/>
                </a:solidFill>
                <a:latin typeface="Arial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11980" y="3091891"/>
            <a:ext cx="1725930" cy="166298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1980" y="4800600"/>
            <a:ext cx="172593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WSUT
deal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1980" y="2771851"/>
            <a:ext cx="172593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5070" y="1920240"/>
            <a:ext cx="1725930" cy="28346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5070" y="4800600"/>
            <a:ext cx="172593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Média
setor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5070" y="1600200"/>
            <a:ext cx="172593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002060"/>
                </a:solidFill>
                <a:latin typeface="Arial"/>
              </a:rPr>
              <a:t>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1920240"/>
            <a:ext cx="32004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2148840"/>
            <a:ext cx="292608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4400" b="1">
                <a:solidFill>
                  <a:srgbClr val="002060"/>
                </a:solidFill>
                <a:latin typeface="Arial"/>
              </a:rPr>
              <a:t>3,7x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971800"/>
            <a:ext cx="292608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Arial"/>
              </a:rPr>
              <a:t>EV/EBITDA 26E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4160520"/>
            <a:ext cx="32004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4389120"/>
            <a:ext cx="292608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4400" b="1">
                <a:solidFill>
                  <a:srgbClr val="008080"/>
                </a:solidFill>
                <a:latin typeface="Arial"/>
              </a:rPr>
              <a:t>R$ 513M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5212079"/>
            <a:ext cx="292608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Arial"/>
              </a:rPr>
              <a:t>Claims VP (~26% mkt cap)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Fusão com a CBO cria o 2º maior OSV do Brasil sem diluir claims judiciais aos acionistas atuais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Escala da frota — antes e depois da combinação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OceanPact; Gradus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759060"/>
            <a:ext cx="1432560" cy="108725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892040"/>
            <a:ext cx="143256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OPCT
(28)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439020"/>
            <a:ext cx="143256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008080"/>
                </a:solidFill>
                <a:latin typeface="Arial"/>
              </a:rPr>
              <a:t>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41320" y="3098939"/>
            <a:ext cx="1432560" cy="174738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1320" y="4892040"/>
            <a:ext cx="143256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CBO
(45)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1320" y="2778899"/>
            <a:ext cx="143256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595959"/>
                </a:solidFill>
                <a:latin typeface="Arial"/>
              </a:rPr>
              <a:t>45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11040" y="2011680"/>
            <a:ext cx="1432560" cy="28346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1040" y="4892040"/>
            <a:ext cx="143256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Combinada
(73)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1040" y="1691640"/>
            <a:ext cx="143256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002060"/>
                </a:solidFill>
                <a:latin typeface="Arial"/>
              </a:rPr>
              <a:t>73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217920" y="3246120"/>
            <a:ext cx="54864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40880" y="1828800"/>
            <a:ext cx="457200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1938528"/>
            <a:ext cx="429768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Market share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2267712"/>
            <a:ext cx="429768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2800" b="1">
                <a:solidFill>
                  <a:srgbClr val="002060"/>
                </a:solidFill>
                <a:latin typeface="Arial"/>
              </a:rPr>
              <a:t>15%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0" y="2971800"/>
            <a:ext cx="457200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78040" y="3081528"/>
            <a:ext cx="429768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Sinergias/ano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3410712"/>
            <a:ext cx="429768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2800" b="1">
                <a:solidFill>
                  <a:srgbClr val="ED7D31"/>
                </a:solidFill>
                <a:latin typeface="Arial"/>
              </a:rPr>
              <a:t>R$ 100M+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0880" y="4114800"/>
            <a:ext cx="457200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78040" y="4224528"/>
            <a:ext cx="429768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Acionistas OPCT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4553712"/>
            <a:ext cx="429768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2800" b="1">
                <a:solidFill>
                  <a:srgbClr val="002060"/>
                </a:solidFill>
                <a:latin typeface="Arial"/>
              </a:rPr>
              <a:t>42%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Só para igualar o múltiplo da WSUT, a OceanPact teria ~30% de upside; na média setorial, ~116%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Upside de repricing — cenários de múltiplo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Tidewater; estimativas Market Makers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4111646"/>
            <a:ext cx="4046220" cy="780393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4937760"/>
            <a:ext cx="404622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WSUT
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791606"/>
            <a:ext cx="404622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008080"/>
                </a:solidFill>
                <a:latin typeface="Arial"/>
              </a:rPr>
              <a:t>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12180" y="1874520"/>
            <a:ext cx="4046220" cy="3017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12180" y="4937760"/>
            <a:ext cx="404622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Média
setorial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2180" y="1554480"/>
            <a:ext cx="404622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002060"/>
                </a:solidFill>
                <a:latin typeface="Arial"/>
              </a:rPr>
              <a:t>116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874519"/>
            <a:ext cx="365760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4800" b="1">
                <a:solidFill>
                  <a:srgbClr val="008080"/>
                </a:solidFill>
                <a:latin typeface="Arial"/>
              </a:rPr>
              <a:t>+30%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737360"/>
            <a:ext cx="3657600" cy="502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4800" b="1">
                <a:solidFill>
                  <a:srgbClr val="002060"/>
                </a:solidFill>
                <a:latin typeface="Arial"/>
              </a:rPr>
              <a:t>+116%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663440"/>
            <a:ext cx="10789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818888"/>
            <a:ext cx="10424160" cy="502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rial"/>
              </a:rPr>
              <a:t>Disciplina: perdeu leilão RSV 4T24 por preço — reconquistou contratos com diárias ~60% maiores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Concentração na Petrobras e integração CBO são os principais riscos a monitorar na tese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Matriz de riscos — impacto vs probabilidade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737360"/>
            <a:ext cx="5440680" cy="609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10512"/>
            <a:ext cx="5349240" cy="5181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Impacto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737360"/>
            <a:ext cx="5440680" cy="609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810512"/>
            <a:ext cx="5349240" cy="5181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Prob.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346960"/>
            <a:ext cx="7616952" cy="6096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2438400"/>
            <a:ext cx="7072884" cy="472439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1">
                <a:solidFill>
                  <a:srgbClr val="002060"/>
                </a:solidFill>
                <a:latin typeface="Arial"/>
              </a:rPr>
              <a:t>Capital intensity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11312" y="2346960"/>
            <a:ext cx="1632204" cy="609600"/>
          </a:xfrm>
          <a:prstGeom prst="rect">
            <a:avLst/>
          </a:prstGeom>
          <a:solidFill>
            <a:srgbClr val="FFF2CC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2" y="2456688"/>
            <a:ext cx="1540764" cy="426719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Médio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43516" y="2346960"/>
            <a:ext cx="1632204" cy="609600"/>
          </a:xfrm>
          <a:prstGeom prst="rect">
            <a:avLst/>
          </a:prstGeom>
          <a:solidFill>
            <a:srgbClr val="FFC7C7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89236" y="2456688"/>
            <a:ext cx="1540764" cy="426719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Alto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956560"/>
            <a:ext cx="7616952" cy="6096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048000"/>
            <a:ext cx="7072884" cy="472439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1">
                <a:solidFill>
                  <a:srgbClr val="002060"/>
                </a:solidFill>
                <a:latin typeface="Arial"/>
              </a:rPr>
              <a:t>Petrobras 57%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11312" y="2956560"/>
            <a:ext cx="1632204" cy="609600"/>
          </a:xfrm>
          <a:prstGeom prst="rect">
            <a:avLst/>
          </a:prstGeom>
          <a:solidFill>
            <a:srgbClr val="FFC7C7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2" y="3066288"/>
            <a:ext cx="1540764" cy="426719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Alto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43516" y="2956560"/>
            <a:ext cx="1632204" cy="609600"/>
          </a:xfrm>
          <a:prstGeom prst="rect">
            <a:avLst/>
          </a:prstGeom>
          <a:solidFill>
            <a:srgbClr val="FF9696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89236" y="3066288"/>
            <a:ext cx="1540764" cy="426719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Alto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3566160"/>
            <a:ext cx="7616952" cy="6096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3657600"/>
            <a:ext cx="7072884" cy="472439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1">
                <a:solidFill>
                  <a:srgbClr val="002060"/>
                </a:solidFill>
                <a:latin typeface="Arial"/>
              </a:rPr>
              <a:t>Fusão CBO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11312" y="3566160"/>
            <a:ext cx="1632204" cy="609600"/>
          </a:xfrm>
          <a:prstGeom prst="rect">
            <a:avLst/>
          </a:prstGeom>
          <a:solidFill>
            <a:srgbClr val="FFC7C7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2" y="3675887"/>
            <a:ext cx="1540764" cy="426719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Alto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43516" y="3566160"/>
            <a:ext cx="1632204" cy="609600"/>
          </a:xfrm>
          <a:prstGeom prst="rect">
            <a:avLst/>
          </a:prstGeom>
          <a:solidFill>
            <a:srgbClr val="FFF2CC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89236" y="3675887"/>
            <a:ext cx="1540764" cy="426719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Médio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4175760"/>
            <a:ext cx="7616952" cy="6096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" y="4267199"/>
            <a:ext cx="7072884" cy="472439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1">
                <a:solidFill>
                  <a:srgbClr val="002060"/>
                </a:solidFill>
                <a:latin typeface="Arial"/>
              </a:rPr>
              <a:t>Ciclo óleo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11312" y="4175760"/>
            <a:ext cx="1632204" cy="609600"/>
          </a:xfrm>
          <a:prstGeom prst="rect">
            <a:avLst/>
          </a:prstGeom>
          <a:solidFill>
            <a:srgbClr val="FFF2CC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57032" y="4285488"/>
            <a:ext cx="1540764" cy="426719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Médio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43516" y="4175760"/>
            <a:ext cx="1632204" cy="609600"/>
          </a:xfrm>
          <a:prstGeom prst="rect">
            <a:avLst/>
          </a:prstGeom>
          <a:solidFill>
            <a:srgbClr val="FFF2CC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89236" y="4285488"/>
            <a:ext cx="1540764" cy="426719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Médio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4785359"/>
            <a:ext cx="7616952" cy="6096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" y="4876799"/>
            <a:ext cx="7072884" cy="472439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1">
                <a:solidFill>
                  <a:srgbClr val="002060"/>
                </a:solidFill>
                <a:latin typeface="Arial"/>
              </a:rPr>
              <a:t>Overhang PE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11312" y="4785359"/>
            <a:ext cx="1632204" cy="609600"/>
          </a:xfrm>
          <a:prstGeom prst="rect">
            <a:avLst/>
          </a:prstGeom>
          <a:solidFill>
            <a:srgbClr val="FFF2CC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2" y="4895087"/>
            <a:ext cx="1540764" cy="426719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Médio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43516" y="4785359"/>
            <a:ext cx="1632204" cy="609600"/>
          </a:xfrm>
          <a:prstGeom prst="rect">
            <a:avLst/>
          </a:prstGeom>
          <a:solidFill>
            <a:srgbClr val="FFF2CC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89236" y="4895087"/>
            <a:ext cx="1540764" cy="426719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Médio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O offshore brasileiro mudou estruturalmente — OceanPact oferece a melhor relação risco-retorno local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Conclusão — convicção Market Makers FIA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32004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1">
                <a:solidFill>
                  <a:srgbClr val="002060"/>
                </a:solidFill>
                <a:latin typeface="Arial"/>
              </a:rPr>
              <a:t>Escassez + cabotagem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1810512"/>
            <a:ext cx="7132320" cy="347472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0" y="1810512"/>
            <a:ext cx="6775704" cy="3474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92840" y="1783080"/>
            <a:ext cx="4572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r"/>
            <a:r>
              <a:rPr sz="1100" b="1">
                <a:solidFill>
                  <a:srgbClr val="002060"/>
                </a:solidFill>
                <a:latin typeface="Arial"/>
              </a:rPr>
              <a:t>95%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96311"/>
            <a:ext cx="32004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1">
                <a:solidFill>
                  <a:srgbClr val="002060"/>
                </a:solidFill>
                <a:latin typeface="Arial"/>
              </a:rPr>
              <a:t>EBITDA contratado 88%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2523744"/>
            <a:ext cx="7132320" cy="347472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23360" y="2523744"/>
            <a:ext cx="6276441" cy="3474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92840" y="2496311"/>
            <a:ext cx="4572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r"/>
            <a:r>
              <a:rPr sz="1100" b="1">
                <a:solidFill>
                  <a:srgbClr val="008080"/>
                </a:solidFill>
                <a:latin typeface="Arial"/>
              </a:rPr>
              <a:t>88%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209544"/>
            <a:ext cx="32004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1">
                <a:solidFill>
                  <a:srgbClr val="002060"/>
                </a:solidFill>
                <a:latin typeface="Arial"/>
              </a:rPr>
              <a:t>Caixa + claims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3236976"/>
            <a:ext cx="7132320" cy="347472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3360" y="3236976"/>
            <a:ext cx="6419088" cy="3474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92840" y="3209544"/>
            <a:ext cx="4572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r"/>
            <a:r>
              <a:rPr sz="1100" b="1">
                <a:solidFill>
                  <a:srgbClr val="ED7D31"/>
                </a:solidFill>
                <a:latin typeface="Arial"/>
              </a:rPr>
              <a:t>90%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922776"/>
            <a:ext cx="32004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1">
                <a:solidFill>
                  <a:srgbClr val="002060"/>
                </a:solidFill>
                <a:latin typeface="Arial"/>
              </a:rPr>
              <a:t>Múltiplo descontado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0" y="3950208"/>
            <a:ext cx="7132320" cy="347472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23360" y="3950208"/>
            <a:ext cx="6062472" cy="3474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92840" y="3922776"/>
            <a:ext cx="4572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r"/>
            <a:r>
              <a:rPr sz="1100" b="1">
                <a:solidFill>
                  <a:srgbClr val="002060"/>
                </a:solidFill>
                <a:latin typeface="Arial"/>
              </a:rPr>
              <a:t>85%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636007"/>
            <a:ext cx="32004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1">
                <a:solidFill>
                  <a:srgbClr val="002060"/>
                </a:solidFill>
                <a:latin typeface="Arial"/>
              </a:rPr>
              <a:t>Fusão CBO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23360" y="4663440"/>
            <a:ext cx="7132320" cy="347472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23360" y="4663440"/>
            <a:ext cx="5705856" cy="3474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92840" y="4636007"/>
            <a:ext cx="4572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r"/>
            <a:r>
              <a:rPr sz="1100" b="1">
                <a:solidFill>
                  <a:srgbClr val="008080"/>
                </a:solidFill>
                <a:latin typeface="Arial"/>
              </a:rPr>
              <a:t>80%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596128"/>
            <a:ext cx="11155680" cy="502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</a:rPr>
              <a:t>Material educativo — Market Makers FIA (mai/2026). Não constitui recomendação de investimento.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