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008080"/>
              </a:solidFill>
            </c:spPr>
          </c:dPt>
          <c:dPt>
            <c:idx val="1"/>
            <c:spPr>
              <a:solidFill>
                <a:srgbClr val="C00000"/>
              </a:solidFill>
            </c:spPr>
          </c:dPt>
          <c:dPt>
            <c:idx val="2"/>
            <c:spPr>
              <a:solidFill>
                <a:srgbClr val="595959"/>
              </a:solidFill>
            </c:spPr>
          </c:dPt>
          <c:dPt>
            <c:idx val="3"/>
            <c:spPr>
              <a:solidFill>
                <a:srgbClr val="ED7D31"/>
              </a:solidFill>
            </c:spPr>
          </c:dPt>
          <c:cat>
            <c:strRef>
              <c:f>Sheet1!$A$2:$A$5</c:f>
              <c:strCache>
                <c:ptCount val="4"/>
                <c:pt idx="0">
                  <c:v>2014</c:v>
                </c:pt>
                <c:pt idx="1">
                  <c:v>2017</c:v>
                </c:pt>
                <c:pt idx="2">
                  <c:v>2021</c:v>
                </c:pt>
                <c:pt idx="3">
                  <c:v>2025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28</c:v>
                </c:pt>
                <c:pt idx="2">
                  <c:v>45</c:v>
                </c:pt>
                <c:pt idx="3">
                  <c:v>119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000"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CE1E8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ED7D31"/>
              </a:solidFill>
            </c:spPr>
          </c:dPt>
          <c:dPt>
            <c:idx val="1"/>
            <c:spPr>
              <a:solidFill>
                <a:srgbClr val="C00000"/>
              </a:solidFill>
            </c:spPr>
          </c:dPt>
          <c:dPt>
            <c:idx val="2"/>
            <c:spPr>
              <a:solidFill>
                <a:srgbClr val="008080"/>
              </a:solidFill>
            </c:spPr>
          </c:dPt>
          <c:cat>
            <c:strRef>
              <c:f>Sheet1!$A$2:$A$4</c:f>
              <c:strCache>
                <c:ptCount val="3"/>
                <c:pt idx="0">
                  <c:v>TIR PSV</c:v>
                </c:pt>
                <c:pt idx="1">
                  <c:v>WACC</c:v>
                </c:pt>
                <c:pt idx="2">
                  <c:v>Diária mín.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</c:v>
                </c:pt>
                <c:pt idx="1">
                  <c:v>13</c:v>
                </c:pt>
                <c:pt idx="2">
                  <c:v>45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000"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0.0"/>
        </c:scaling>
        <c:delete val="0"/>
        <c:axPos val="l"/>
        <c:majorGridlines>
          <c:spPr>
            <a:ln>
              <a:solidFill>
                <a:srgbClr val="DCE1E8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Arial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002060"/>
              </a:solidFill>
            </c:spPr>
          </c:dPt>
          <c:dPt>
            <c:idx val="1"/>
            <c:spPr>
              <a:solidFill>
                <a:srgbClr val="ED7D31"/>
              </a:solidFill>
            </c:spPr>
          </c:dPt>
          <c:dPt>
            <c:idx val="2"/>
            <c:spPr>
              <a:solidFill>
                <a:srgbClr val="008080"/>
              </a:solidFill>
            </c:spPr>
          </c:dPt>
          <c:dPt>
            <c:idx val="3"/>
            <c:spPr>
              <a:solidFill>
                <a:srgbClr val="008080"/>
              </a:solidFill>
            </c:spPr>
          </c:dPt>
          <c:cat>
            <c:strRef>
              <c:f>Sheet1!$A$2:$A$5</c:f>
              <c:strCache>
                <c:ptCount val="4"/>
                <c:pt idx="0">
                  <c:v>FPSOs</c:v>
                </c:pt>
                <c:pt idx="1">
                  <c:v>Navios+ est.</c:v>
                </c:pt>
                <c:pt idx="2">
                  <c:v>Contrato anos</c:v>
                </c:pt>
                <c:pt idx="3">
                  <c:v>Frota BR %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19</c:v>
                </c:pt>
                <c:pt idx="1">
                  <c:v>30</c:v>
                </c:pt>
                <c:pt idx="2">
                  <c:v>4</c:v>
                </c:pt>
                <c:pt idx="3">
                  <c:v>96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000"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CE1E8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Arial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595959"/>
              </a:solidFill>
            </c:spPr>
          </c:dPt>
          <c:dPt>
            <c:idx val="1"/>
            <c:spPr>
              <a:solidFill>
                <a:srgbClr val="008080"/>
              </a:solidFill>
            </c:spPr>
          </c:dPt>
          <c:dPt>
            <c:idx val="2"/>
            <c:spPr>
              <a:solidFill>
                <a:srgbClr val="002060"/>
              </a:solidFill>
            </c:spPr>
          </c:dPt>
          <c:cat>
            <c:strRef>
              <c:f>Sheet1!$A$2:$A$4</c:f>
              <c:strCache>
                <c:ptCount val="3"/>
                <c:pt idx="0">
                  <c:v>Rec.+8%</c:v>
                </c:pt>
                <c:pt idx="1">
                  <c:v>EBITDA+30%</c:v>
                </c:pt>
                <c:pt idx="2">
                  <c:v>Cob.88%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</c:v>
                </c:pt>
                <c:pt idx="1">
                  <c:v>30</c:v>
                </c:pt>
                <c:pt idx="2">
                  <c:v>88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000"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</c:scaling>
        <c:delete val="0"/>
        <c:axPos val="l"/>
        <c:majorGridlines>
          <c:spPr>
            <a:ln>
              <a:solidFill>
                <a:srgbClr val="DCE1E8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Arial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ED7D31"/>
              </a:solidFill>
            </c:spPr>
          </c:dPt>
          <c:dPt>
            <c:idx val="1"/>
            <c:spPr>
              <a:solidFill>
                <a:srgbClr val="008080"/>
              </a:solidFill>
            </c:spPr>
          </c:dPt>
          <c:dPt>
            <c:idx val="2"/>
            <c:spPr>
              <a:solidFill>
                <a:srgbClr val="595959"/>
              </a:solidFill>
            </c:spPr>
          </c:dPt>
          <c:dPt>
            <c:idx val="3"/>
            <c:spPr>
              <a:solidFill>
                <a:srgbClr val="002060"/>
              </a:solidFill>
            </c:spPr>
          </c:dPt>
          <c:cat>
            <c:strRef>
              <c:f>Sheet1!$A$2:$A$5</c:f>
              <c:strCache>
                <c:ptCount val="4"/>
                <c:pt idx="0">
                  <c:v>OPCT</c:v>
                </c:pt>
                <c:pt idx="1">
                  <c:v>OPCT adj.</c:v>
                </c:pt>
                <c:pt idx="2">
                  <c:v>WSUT deal</c:v>
                </c:pt>
                <c:pt idx="3">
                  <c:v>Média setor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3.7</c:v>
                </c:pt>
                <c:pt idx="1">
                  <c:v>3.1</c:v>
                </c:pt>
                <c:pt idx="2">
                  <c:v>4.4</c:v>
                </c:pt>
                <c:pt idx="3">
                  <c:v>7.5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000"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9.0"/>
        </c:scaling>
        <c:delete val="0"/>
        <c:axPos val="l"/>
        <c:majorGridlines>
          <c:spPr>
            <a:ln>
              <a:solidFill>
                <a:srgbClr val="DCE1E8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Arial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008080"/>
              </a:solidFill>
            </c:spPr>
          </c:dPt>
          <c:dPt>
            <c:idx val="1"/>
            <c:spPr>
              <a:solidFill>
                <a:srgbClr val="595959"/>
              </a:solidFill>
            </c:spPr>
          </c:dPt>
          <c:dPt>
            <c:idx val="2"/>
            <c:spPr>
              <a:solidFill>
                <a:srgbClr val="002060"/>
              </a:solidFill>
            </c:spPr>
          </c:dPt>
          <c:cat>
            <c:strRef>
              <c:f>Sheet1!$A$2:$A$4</c:f>
              <c:strCache>
                <c:ptCount val="3"/>
                <c:pt idx="0">
                  <c:v>OPCT</c:v>
                </c:pt>
                <c:pt idx="1">
                  <c:v>CBO</c:v>
                </c:pt>
                <c:pt idx="2">
                  <c:v>Combinada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28</c:v>
                </c:pt>
                <c:pt idx="1">
                  <c:v>45</c:v>
                </c:pt>
                <c:pt idx="2">
                  <c:v>73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000"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CE1E8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Arial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008080"/>
              </a:solidFill>
            </c:spPr>
          </c:dPt>
          <c:dPt>
            <c:idx val="1"/>
            <c:spPr>
              <a:solidFill>
                <a:srgbClr val="002060"/>
              </a:solidFill>
            </c:spPr>
          </c:dPt>
          <c:cat>
            <c:strRef>
              <c:f>Sheet1!$A$2:$A$3</c:f>
              <c:strCache>
                <c:ptCount val="2"/>
                <c:pt idx="0">
                  <c:v>WSUT +30%</c:v>
                </c:pt>
                <c:pt idx="1">
                  <c:v>Média +116%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30</c:v>
                </c:pt>
                <c:pt idx="1">
                  <c:v>116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000"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30.0"/>
        </c:scaling>
        <c:delete val="0"/>
        <c:axPos val="l"/>
        <c:majorGridlines>
          <c:spPr>
            <a:ln>
              <a:solidFill>
                <a:srgbClr val="DCE1E8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3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49240"/>
            <a:ext cx="12188952" cy="15087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00200"/>
            <a:ext cx="10515600" cy="9144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Arial"/>
              </a:rPr>
              <a:t>OceanPact (OPCT3)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606040"/>
            <a:ext cx="10515600" cy="7315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3000" b="1">
                <a:solidFill>
                  <a:srgbClr val="ED7D31"/>
                </a:solidFill>
                <a:latin typeface="Arial"/>
              </a:rPr>
              <a:t>Vai faltar barco!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532120"/>
            <a:ext cx="10058400" cy="4572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200" b="0">
                <a:solidFill>
                  <a:srgbClr val="C8D2E6"/>
                </a:solidFill>
                <a:latin typeface="Arial"/>
              </a:rPr>
              <a:t>Market Makers FIA  ·  Tese de investimento  ·  Maio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335024"/>
            <a:ext cx="11155680" cy="274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1389888"/>
            <a:ext cx="11384280" cy="4343400"/>
          </a:xfrm>
          <a:prstGeom prst="rect">
            <a:avLst/>
          </a:prstGeom>
          <a:solidFill>
            <a:srgbClr val="F5F7FA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587044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595959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56032"/>
            <a:ext cx="111556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0">
                <a:solidFill>
                  <a:srgbClr val="002060"/>
                </a:solidFill>
                <a:latin typeface="Arial"/>
              </a:rPr>
              <a:t>O offshore brasileiro entra em novo ciclo de investimento enquanto a oferta global de OSVs permanece estruturalmente comprimida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60120"/>
            <a:ext cx="11155680" cy="347472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400" b="0">
                <a:solidFill>
                  <a:srgbClr val="595959"/>
                </a:solidFill>
                <a:latin typeface="Arial"/>
              </a:rPr>
              <a:t>Contexto — Market Makers FIA, maio/2026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28800"/>
            <a:ext cx="10515600" cy="14630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600" b="0">
                <a:solidFill>
                  <a:srgbClr val="002060"/>
                </a:solidFill>
                <a:latin typeface="Arial"/>
              </a:rPr>
              <a:t>A Petrobras anuncia US$ 109 bi de capex 2026–30 — o maior plano em uma década — enquanto estaleiros globais não têm fila de pedidos de navios de apoio.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29000"/>
            <a:ext cx="10515600" cy="13716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400" b="0">
                <a:solidFill>
                  <a:srgbClr val="595959"/>
                </a:solidFill>
                <a:latin typeface="Arial"/>
              </a:rPr>
              <a:t>No ciclo anterior, boom e bust destruíram frota e crédito; na virada atual, escassez e cabotagem redefinem a economia das diárias no Brasil.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074920"/>
            <a:ext cx="10058400" cy="3657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200" b="1">
                <a:solidFill>
                  <a:srgbClr val="008080"/>
                </a:solidFill>
                <a:latin typeface="Arial"/>
              </a:rPr>
              <a:t>Próximo: tese de investimento e três pilares de convicção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335024"/>
            <a:ext cx="11155680" cy="274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1389888"/>
            <a:ext cx="11384280" cy="4343400"/>
          </a:xfrm>
          <a:prstGeom prst="rect">
            <a:avLst/>
          </a:prstGeom>
          <a:solidFill>
            <a:srgbClr val="F5F7FA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587044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595959"/>
                </a:solidFill>
                <a:latin typeface="Arial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56032"/>
            <a:ext cx="111556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0">
                <a:solidFill>
                  <a:srgbClr val="002060"/>
                </a:solidFill>
                <a:latin typeface="Arial"/>
              </a:rPr>
              <a:t>Escassez de OSVs, diárias em alta e múltiplo descontado posicionam a OceanPact como forte pagadora de dividendos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60120"/>
            <a:ext cx="11155680" cy="347472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400" b="0">
                <a:solidFill>
                  <a:srgbClr val="595959"/>
                </a:solidFill>
                <a:latin typeface="Arial"/>
              </a:rPr>
              <a:t>Tese de investimento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80644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595959"/>
                </a:solidFill>
                <a:latin typeface="Arial"/>
              </a:rPr>
              <a:t>Fonte: Market Makers FIA; estimativas da casa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645920"/>
            <a:ext cx="5349240" cy="1755648"/>
          </a:xfrm>
          <a:prstGeom prst="rect">
            <a:avLst/>
          </a:prstGeom>
          <a:solidFill>
            <a:srgbClr val="FFFFFF"/>
          </a:solidFill>
          <a:ln w="2540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783080"/>
            <a:ext cx="4937760" cy="3657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Arial"/>
              </a:rPr>
              <a:t>CAPEX Petrobras 26–30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48840"/>
            <a:ext cx="4937760" cy="6400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3800" b="1">
                <a:solidFill>
                  <a:srgbClr val="008080"/>
                </a:solidFill>
                <a:latin typeface="Arial"/>
              </a:rPr>
              <a:t>US$ 109 bi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880360"/>
            <a:ext cx="4937760" cy="43891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Arial"/>
              </a:rPr>
              <a:t>Demanda ancorada por década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645920"/>
            <a:ext cx="5349240" cy="1755648"/>
          </a:xfrm>
          <a:prstGeom prst="rect">
            <a:avLst/>
          </a:prstGeom>
          <a:solidFill>
            <a:srgbClr val="FFFFFF"/>
          </a:solidFill>
          <a:ln w="254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783080"/>
            <a:ext cx="4937760" cy="3657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Arial"/>
              </a:rPr>
              <a:t>Diárias PSV BR (21→25)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148840"/>
            <a:ext cx="4937760" cy="6400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3800" b="1">
                <a:solidFill>
                  <a:srgbClr val="ED7D31"/>
                </a:solidFill>
                <a:latin typeface="Arial"/>
              </a:rPr>
              <a:t>+119%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880360"/>
            <a:ext cx="4937760" cy="43891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Arial"/>
              </a:rPr>
              <a:t>Reprecificação em curso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3520439"/>
            <a:ext cx="5349240" cy="1755648"/>
          </a:xfrm>
          <a:prstGeom prst="rect">
            <a:avLst/>
          </a:prstGeom>
          <a:solidFill>
            <a:srgbClr val="FFFFFF"/>
          </a:solidFill>
          <a:ln w="2540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657599"/>
            <a:ext cx="4937760" cy="3657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Arial"/>
              </a:rPr>
              <a:t>EV/EBITDA 26E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023359"/>
            <a:ext cx="4937760" cy="6400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3800" b="1">
                <a:solidFill>
                  <a:srgbClr val="002060"/>
                </a:solidFill>
                <a:latin typeface="Arial"/>
              </a:rPr>
              <a:t>3,7x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754879"/>
            <a:ext cx="4937760" cy="43891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Arial"/>
              </a:rPr>
              <a:t>Menor múltiplo entre pares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3520439"/>
            <a:ext cx="5349240" cy="1755648"/>
          </a:xfrm>
          <a:prstGeom prst="rect">
            <a:avLst/>
          </a:prstGeom>
          <a:solidFill>
            <a:srgbClr val="FFFFFF"/>
          </a:solidFill>
          <a:ln w="254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3657599"/>
            <a:ext cx="4937760" cy="3657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Arial"/>
              </a:rPr>
              <a:t>Div. acum. 3 anos (est.)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4023359"/>
            <a:ext cx="4937760" cy="6400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3800" b="1">
                <a:solidFill>
                  <a:srgbClr val="ED7D31"/>
                </a:solidFill>
                <a:latin typeface="Arial"/>
              </a:rPr>
              <a:t>~67%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754879"/>
            <a:ext cx="4937760" cy="43891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Arial"/>
              </a:rPr>
              <a:t>Alta conversão em dividendos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335024"/>
            <a:ext cx="11155680" cy="274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1389888"/>
            <a:ext cx="11384280" cy="4343400"/>
          </a:xfrm>
          <a:prstGeom prst="rect">
            <a:avLst/>
          </a:prstGeom>
          <a:solidFill>
            <a:srgbClr val="F5F7FA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587044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595959"/>
                </a:solidFill>
                <a:latin typeface="Arial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56032"/>
            <a:ext cx="111556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0">
                <a:solidFill>
                  <a:srgbClr val="002060"/>
                </a:solidFill>
                <a:latin typeface="Arial"/>
              </a:rPr>
              <a:t>Três pilares estruturam por que a OceanPact é a melhor porta de entrada no ciclo offshore brasileiro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60120"/>
            <a:ext cx="11155680" cy="347472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400" b="0">
                <a:solidFill>
                  <a:srgbClr val="595959"/>
                </a:solidFill>
                <a:latin typeface="Arial"/>
              </a:rPr>
              <a:t>Agenda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600200"/>
            <a:ext cx="3520440" cy="3840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600200"/>
            <a:ext cx="502920" cy="38404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2880360"/>
            <a:ext cx="365760" cy="4572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828800"/>
            <a:ext cx="2743200" cy="4572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800" b="1">
                <a:solidFill>
                  <a:srgbClr val="002060"/>
                </a:solidFill>
                <a:latin typeface="Arial"/>
              </a:rPr>
              <a:t>Escassez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377440"/>
            <a:ext cx="2743200" cy="22860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Arial"/>
              </a:rPr>
              <a:t>Oferta comprimida · frota envelhecendo · demanda Petrobras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43400" y="1600200"/>
            <a:ext cx="3520440" cy="3840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1600200"/>
            <a:ext cx="502920" cy="384048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6552" y="2880360"/>
            <a:ext cx="365760" cy="4572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1828800"/>
            <a:ext cx="2743200" cy="4572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800" b="1">
                <a:solidFill>
                  <a:srgbClr val="008080"/>
                </a:solidFill>
                <a:latin typeface="Arial"/>
              </a:rPr>
              <a:t>Alavancagem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2377440"/>
            <a:ext cx="2743200" cy="22860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Arial"/>
              </a:rPr>
              <a:t>Diárias reprecificadas · EBITDA dispara · contratos longos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92440" y="1600200"/>
            <a:ext cx="3520440" cy="3840480"/>
          </a:xfrm>
          <a:prstGeom prst="rect">
            <a:avLst/>
          </a:prstGeom>
          <a:solidFill>
            <a:srgbClr val="FFFFFF"/>
          </a:solidFill>
          <a:ln w="254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92440" y="1600200"/>
            <a:ext cx="502920" cy="384048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65592" y="2880360"/>
            <a:ext cx="365760" cy="4572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1828800"/>
            <a:ext cx="2743200" cy="4572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800" b="1">
                <a:solidFill>
                  <a:srgbClr val="ED7D31"/>
                </a:solidFill>
                <a:latin typeface="Arial"/>
              </a:rPr>
              <a:t>Valuation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2377440"/>
            <a:ext cx="2743200" cy="22860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Arial"/>
              </a:rPr>
              <a:t>3,7x EV/EBITDA · claims · fusão CBO · upside de repricing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377440"/>
            <a:ext cx="11155680" cy="2743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65960"/>
            <a:ext cx="1280160" cy="10058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6400" b="1">
                <a:solidFill>
                  <a:srgbClr val="ED7D31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48840" y="2057400"/>
            <a:ext cx="9144000" cy="8229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3000" b="1">
                <a:solidFill>
                  <a:srgbClr val="002060"/>
                </a:solidFill>
                <a:latin typeface="Arial"/>
              </a:rPr>
              <a:t>Escassez estrutural de OSVs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48840" y="2926080"/>
            <a:ext cx="9144000" cy="5029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500" b="0">
                <a:solidFill>
                  <a:srgbClr val="595959"/>
                </a:solidFill>
                <a:latin typeface="Arial"/>
              </a:rPr>
              <a:t>Por que diárias permanecem elevadas mesmo após o ciclo anterior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587044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595959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335024"/>
            <a:ext cx="11155680" cy="274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1389888"/>
            <a:ext cx="11384280" cy="4343400"/>
          </a:xfrm>
          <a:prstGeom prst="rect">
            <a:avLst/>
          </a:prstGeom>
          <a:solidFill>
            <a:srgbClr val="F5F7FA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587044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595959"/>
                </a:solidFill>
                <a:latin typeface="Arial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56032"/>
            <a:ext cx="111556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0">
                <a:solidFill>
                  <a:srgbClr val="002060"/>
                </a:solidFill>
                <a:latin typeface="Arial"/>
              </a:rPr>
              <a:t>O boom de 2010–14 destruiu frota e crédito; a virada de 2021–26 recria escassez estrutural de OSVs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60120"/>
            <a:ext cx="11155680" cy="347472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400" b="0">
                <a:solidFill>
                  <a:srgbClr val="595959"/>
                </a:solidFill>
                <a:latin typeface="Arial"/>
              </a:rPr>
              <a:t>Índice de diárias PSV grandes — Brasil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90472"/>
            <a:ext cx="10515600" cy="292608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Arial"/>
              </a:rPr>
              <a:t>Índice de diária PSV grande (2014 = 100)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80644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595959"/>
                </a:solidFill>
                <a:latin typeface="Arial"/>
              </a:rPr>
              <a:t>Fonte: ABEAM; Clarksons Research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85800" y="1828800"/>
          <a:ext cx="6766560" cy="1965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ectangle 10"/>
          <p:cNvSpPr/>
          <p:nvPr/>
        </p:nvSpPr>
        <p:spPr>
          <a:xfrm>
            <a:off x="7726679" y="1920240"/>
            <a:ext cx="361188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0" y="2121408"/>
            <a:ext cx="3337560" cy="7772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4400" b="1">
                <a:solidFill>
                  <a:srgbClr val="ED7D31"/>
                </a:solidFill>
                <a:latin typeface="Arial"/>
              </a:rPr>
              <a:t>+119%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2880360"/>
            <a:ext cx="3337560" cy="7315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200" b="0">
                <a:solidFill>
                  <a:srgbClr val="595959"/>
                </a:solidFill>
                <a:latin typeface="Arial"/>
              </a:rPr>
              <a:t>Diárias praticamente
dobraram em 2 anos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3931920"/>
            <a:ext cx="3291840" cy="1417320"/>
          </a:xfrm>
          <a:prstGeom prst="rect">
            <a:avLst/>
          </a:prstGeom>
          <a:solidFill>
            <a:srgbClr val="548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" y="4023359"/>
            <a:ext cx="3017520" cy="25603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rial"/>
              </a:rPr>
              <a:t>2010–14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" y="4279392"/>
            <a:ext cx="3017520" cy="292608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Boom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" y="4645152"/>
            <a:ext cx="3017520" cy="5943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rial"/>
              </a:rPr>
              <a:t>500+ navios
Diárias no pico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023360" y="4480559"/>
            <a:ext cx="274320" cy="320040"/>
          </a:xfrm>
          <a:prstGeom prst="rightArrow">
            <a:avLst/>
          </a:prstGeom>
          <a:solidFill>
            <a:srgbClr val="548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43400" y="3931920"/>
            <a:ext cx="3291840" cy="14173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53128" y="4023359"/>
            <a:ext cx="3017520" cy="25603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rial"/>
              </a:rPr>
              <a:t>2015–20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53128" y="4279392"/>
            <a:ext cx="3017520" cy="292608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Crise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53128" y="4645152"/>
            <a:ext cx="3017520" cy="5943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rial"/>
              </a:rPr>
              <a:t>−60–80%
Quebra de produtores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7680960" y="4480559"/>
            <a:ext cx="274320" cy="320040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01000" y="3931920"/>
            <a:ext cx="3291840" cy="14173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10727" y="4023359"/>
            <a:ext cx="3017520" cy="25603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rial"/>
              </a:rPr>
              <a:t>2021–26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10727" y="4279392"/>
            <a:ext cx="3017520" cy="292608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Virada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10727" y="4645152"/>
            <a:ext cx="3017520" cy="5943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rial"/>
              </a:rPr>
              <a:t>~2x diárias
Oferta não acompanha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335024"/>
            <a:ext cx="11155680" cy="274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1389888"/>
            <a:ext cx="11384280" cy="4343400"/>
          </a:xfrm>
          <a:prstGeom prst="rect">
            <a:avLst/>
          </a:prstGeom>
          <a:solidFill>
            <a:srgbClr val="F5F7FA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587044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595959"/>
                </a:solidFill>
                <a:latin typeface="Arial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56032"/>
            <a:ext cx="111556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0">
                <a:solidFill>
                  <a:srgbClr val="002060"/>
                </a:solidFill>
                <a:latin typeface="Arial"/>
              </a:rPr>
              <a:t>Porém, oferta nova só chega em 2028+ — e diárias atuais ainda não justificam construir navio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60120"/>
            <a:ext cx="11155680" cy="347472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400" b="0">
                <a:solidFill>
                  <a:srgbClr val="595959"/>
                </a:solidFill>
                <a:latin typeface="Arial"/>
              </a:rPr>
              <a:t>TIR da construção de PSV vs WACC do setor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90472"/>
            <a:ext cx="10515600" cy="292608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Arial"/>
              </a:rPr>
              <a:t>TIR estimada de PSV novo vs WACC do setor (%)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80644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595959"/>
                </a:solidFill>
                <a:latin typeface="Arial"/>
              </a:rPr>
              <a:t>Fonte: Estimativas Market Makers; Clarksons  |  Diária mín. VPL&gt;0: ~US$ 45k (+12,5% vs. atual)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40080" y="1828800"/>
          <a:ext cx="4892040" cy="2148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ectangle 10"/>
          <p:cNvSpPr/>
          <p:nvPr/>
        </p:nvSpPr>
        <p:spPr>
          <a:xfrm>
            <a:off x="640080" y="5102352"/>
            <a:ext cx="4983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5193792"/>
            <a:ext cx="4764024" cy="219456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Arial"/>
              </a:rPr>
              <a:t>TIR 9% &lt; WACC — CEO racional não encomenda navio novo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5431536"/>
            <a:ext cx="4764024" cy="219456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Arial"/>
              </a:rPr>
              <a:t>Entrega só a partir de 2028; estaleiros sem fila de pedidos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89320" y="1737360"/>
            <a:ext cx="56235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1847088"/>
            <a:ext cx="2286000" cy="3200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100" b="1">
                <a:solidFill>
                  <a:srgbClr val="002060"/>
                </a:solidFill>
                <a:latin typeface="Arial"/>
              </a:rPr>
              <a:t>Pedidos globais PSV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03920" y="1883664"/>
            <a:ext cx="1097280" cy="4572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0" y="1947672"/>
            <a:ext cx="1097280" cy="3200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Alto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38360" y="1847088"/>
            <a:ext cx="1828800" cy="5029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Arial"/>
              </a:rPr>
              <a:t>&lt;50 vs 250+
Fila vazia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89320" y="2651760"/>
            <a:ext cx="56235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2761488"/>
            <a:ext cx="2286000" cy="3200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100" b="1">
                <a:solidFill>
                  <a:srgbClr val="002060"/>
                </a:solidFill>
                <a:latin typeface="Arial"/>
              </a:rPr>
              <a:t>AHTS grande em obra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03920" y="2798064"/>
            <a:ext cx="1097280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20" y="2862072"/>
            <a:ext cx="1097280" cy="3200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Crítico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38360" y="2761488"/>
            <a:ext cx="1828800" cy="5029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Arial"/>
              </a:rPr>
              <a:t>Zero no mundo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89320" y="3566160"/>
            <a:ext cx="56235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0" y="3675887"/>
            <a:ext cx="2286000" cy="3200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100" b="1">
                <a:solidFill>
                  <a:srgbClr val="002060"/>
                </a:solidFill>
                <a:latin typeface="Arial"/>
              </a:rPr>
              <a:t>Idade média frota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503920" y="3712463"/>
            <a:ext cx="1097280" cy="4572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03920" y="3776472"/>
            <a:ext cx="1097280" cy="3200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Alto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38360" y="3675887"/>
            <a:ext cx="1828800" cy="5029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Arial"/>
              </a:rPr>
              <a:t>13a → 17a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89320" y="4480560"/>
            <a:ext cx="56235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26480" y="4590288"/>
            <a:ext cx="2286000" cy="3200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100" b="1">
                <a:solidFill>
                  <a:srgbClr val="002060"/>
                </a:solidFill>
                <a:latin typeface="Arial"/>
              </a:rPr>
              <a:t>Entrega navio novo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503920" y="4626864"/>
            <a:ext cx="1097280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0" y="4690872"/>
            <a:ext cx="1097280" cy="3200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Crítico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38360" y="4590288"/>
            <a:ext cx="1828800" cy="5029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Arial"/>
              </a:rPr>
              <a:t>2028+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335024"/>
            <a:ext cx="11155680" cy="274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1389888"/>
            <a:ext cx="11384280" cy="4343400"/>
          </a:xfrm>
          <a:prstGeom prst="rect">
            <a:avLst/>
          </a:prstGeom>
          <a:solidFill>
            <a:srgbClr val="F5F7FA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587044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595959"/>
                </a:solidFill>
                <a:latin typeface="Arial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56032"/>
            <a:ext cx="111556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0">
                <a:solidFill>
                  <a:srgbClr val="002060"/>
                </a:solidFill>
                <a:latin typeface="Arial"/>
              </a:rPr>
              <a:t>Escassez estrutural e cabotagem sustentam diárias defensáveis por 4+ anos — visibilidade de receita para o investidor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60120"/>
            <a:ext cx="11155680" cy="347472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400" b="0">
                <a:solidFill>
                  <a:srgbClr val="595959"/>
                </a:solidFill>
                <a:latin typeface="Arial"/>
              </a:rPr>
              <a:t>Síntese — Pilar 1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737360"/>
            <a:ext cx="5349240" cy="1691640"/>
          </a:xfrm>
          <a:prstGeom prst="rect">
            <a:avLst/>
          </a:prstGeom>
          <a:solidFill>
            <a:srgbClr val="FFFFFF"/>
          </a:solidFill>
          <a:ln w="2540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920240"/>
            <a:ext cx="4937760" cy="3657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Arial"/>
              </a:rPr>
              <a:t>Oferta travada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77439"/>
            <a:ext cx="4937760" cy="8686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Arial"/>
              </a:rPr>
              <a:t>Zero AHTS grande em obra; pedidos PSV &lt;50 vs 250+ no boom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737360"/>
            <a:ext cx="5349240" cy="1691640"/>
          </a:xfrm>
          <a:prstGeom prst="rect">
            <a:avLst/>
          </a:prstGeom>
          <a:solidFill>
            <a:srgbClr val="FFFFFF"/>
          </a:solidFill>
          <a:ln w="2540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920240"/>
            <a:ext cx="4937760" cy="3657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600" b="1">
                <a:solidFill>
                  <a:srgbClr val="008080"/>
                </a:solidFill>
                <a:latin typeface="Arial"/>
              </a:rPr>
              <a:t>Demanda visível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377439"/>
            <a:ext cx="4937760" cy="8686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Arial"/>
              </a:rPr>
              <a:t>Contratos de 4 anos travam diária mesmo se spot cair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3657600"/>
            <a:ext cx="5349240" cy="1691640"/>
          </a:xfrm>
          <a:prstGeom prst="rect">
            <a:avLst/>
          </a:prstGeom>
          <a:solidFill>
            <a:srgbClr val="FFFFFF"/>
          </a:solidFill>
          <a:ln w="254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840480"/>
            <a:ext cx="4937760" cy="3657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600" b="1">
                <a:solidFill>
                  <a:srgbClr val="ED7D31"/>
                </a:solidFill>
                <a:latin typeface="Arial"/>
              </a:rPr>
              <a:t>Barreira local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297680"/>
            <a:ext cx="4937760" cy="8686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Arial"/>
              </a:rPr>
              <a:t>96% da frota OPCT no Brasil — cabotagem protege rentabilidade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377440"/>
            <a:ext cx="11155680" cy="2743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65960"/>
            <a:ext cx="1280160" cy="10058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6400" b="1">
                <a:solidFill>
                  <a:srgbClr val="ED7D31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48840" y="2057400"/>
            <a:ext cx="9144000" cy="8229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3000" b="1">
                <a:solidFill>
                  <a:srgbClr val="002060"/>
                </a:solidFill>
                <a:latin typeface="Arial"/>
              </a:rPr>
              <a:t>Demanda ancorada e plataforma integrada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48840" y="2926080"/>
            <a:ext cx="9144000" cy="5029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500" b="0">
                <a:solidFill>
                  <a:srgbClr val="595959"/>
                </a:solidFill>
                <a:latin typeface="Arial"/>
              </a:rPr>
              <a:t>Como a Petrobras e o modelo OPCT capturam o ciclo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587044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595959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335024"/>
            <a:ext cx="11155680" cy="274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1389888"/>
            <a:ext cx="11384280" cy="4343400"/>
          </a:xfrm>
          <a:prstGeom prst="rect">
            <a:avLst/>
          </a:prstGeom>
          <a:solidFill>
            <a:srgbClr val="F5F7FA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587044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595959"/>
                </a:solidFill>
                <a:latin typeface="Arial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56032"/>
            <a:ext cx="111556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0">
                <a:solidFill>
                  <a:srgbClr val="002060"/>
                </a:solidFill>
                <a:latin typeface="Arial"/>
              </a:rPr>
              <a:t>O capex de US$ 109 bi da Petrobras 2026–30 ancora demanda por OSVs no Brasil por uma década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60120"/>
            <a:ext cx="11155680" cy="347472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400" b="0">
                <a:solidFill>
                  <a:srgbClr val="595959"/>
                </a:solidFill>
                <a:latin typeface="Arial"/>
              </a:rPr>
              <a:t>Plano Estratégico 2026–30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90472"/>
            <a:ext cx="10515600" cy="292608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Arial"/>
              </a:rPr>
              <a:t>Composição do CAPEX Petrobras 2026–30 (US$ bi)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80644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595959"/>
                </a:solidFill>
                <a:latin typeface="Arial"/>
              </a:rPr>
              <a:t>Fonte: Petrobras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7721227" cy="6858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1988819"/>
            <a:ext cx="7574923" cy="3657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E&amp;P US$ 78 bi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07027" y="1828800"/>
            <a:ext cx="1009698" cy="6858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80179" y="1988819"/>
            <a:ext cx="863394" cy="3657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Descom. US$ 10,2 bi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416726" y="1828800"/>
            <a:ext cx="2058993" cy="68580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89878" y="1988819"/>
            <a:ext cx="1912689" cy="3657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Outros US$ 20,8 bi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1801368"/>
            <a:ext cx="10789920" cy="2743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200" b="1">
                <a:solidFill>
                  <a:srgbClr val="002060"/>
                </a:solidFill>
                <a:latin typeface="Arial"/>
              </a:rPr>
              <a:t>CAPEX total US$ 109 bi</a:t>
            </a:r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685800" y="2834640"/>
          <a:ext cx="10789920" cy="1828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8" name="Rectangle 17"/>
          <p:cNvSpPr/>
          <p:nvPr/>
        </p:nvSpPr>
        <p:spPr>
          <a:xfrm>
            <a:off x="640080" y="5102352"/>
            <a:ext cx="105156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5193792"/>
            <a:ext cx="10296144" cy="219456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Arial"/>
              </a:rPr>
              <a:t>19 FPSOs → ~30 embarcações de apoio adicionais estimadas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5431536"/>
            <a:ext cx="10296144" cy="219456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Arial"/>
              </a:rPr>
              <a:t>Contratos de 4 anos dão visibilidade de receita ao investidor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335024"/>
            <a:ext cx="11155680" cy="274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1389888"/>
            <a:ext cx="11384280" cy="4343400"/>
          </a:xfrm>
          <a:prstGeom prst="rect">
            <a:avLst/>
          </a:prstGeom>
          <a:solidFill>
            <a:srgbClr val="F5F7FA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587044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595959"/>
                </a:solidFill>
                <a:latin typeface="Arial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56032"/>
            <a:ext cx="111556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0">
                <a:solidFill>
                  <a:srgbClr val="002060"/>
                </a:solidFill>
                <a:latin typeface="Arial"/>
              </a:rPr>
              <a:t>Porém, 57% da receita vem da Petrobras — relação estratégica de longo prazo com concentração a monitorar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60120"/>
            <a:ext cx="11155680" cy="347472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400" b="0">
                <a:solidFill>
                  <a:srgbClr val="595959"/>
                </a:solidFill>
                <a:latin typeface="Arial"/>
              </a:rPr>
              <a:t>OceanPact — plataforma offshore integrada, 1T26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90472"/>
            <a:ext cx="10515600" cy="292608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Arial"/>
              </a:rPr>
              <a:t>Mix de receita e ativos operacionais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80644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595959"/>
                </a:solidFill>
                <a:latin typeface="Arial"/>
              </a:rPr>
              <a:t>Fonte: OceanPact; Market Makers FIA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801368"/>
            <a:ext cx="5934456" cy="5486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1892807"/>
            <a:ext cx="5788152" cy="3657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Embarcações 55%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20256" y="1801368"/>
            <a:ext cx="4855464" cy="54864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93408" y="1892807"/>
            <a:ext cx="4709160" cy="3657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Serviços 45%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2560320"/>
            <a:ext cx="5212080" cy="13258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651760"/>
            <a:ext cx="4937760" cy="292608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</a:rPr>
              <a:t>Frota operacional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2926079"/>
            <a:ext cx="4937760" cy="4572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3400" b="1">
                <a:solidFill>
                  <a:srgbClr val="002060"/>
                </a:solidFill>
                <a:latin typeface="Arial"/>
              </a:rPr>
              <a:t>23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429000"/>
            <a:ext cx="4937760" cy="3657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Arial"/>
              </a:rPr>
              <a:t>Cabotagem protege base instalada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2560320"/>
            <a:ext cx="5212080" cy="13258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2651760"/>
            <a:ext cx="4937760" cy="292608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</a:rPr>
              <a:t>ROVs work class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926079"/>
            <a:ext cx="4937760" cy="4572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3400" b="1">
                <a:solidFill>
                  <a:srgbClr val="008080"/>
                </a:solidFill>
                <a:latin typeface="Arial"/>
              </a:rPr>
              <a:t>11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429000"/>
            <a:ext cx="4937760" cy="3657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Arial"/>
              </a:rPr>
              <a:t>Eleva ticket médio por contrato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4069079"/>
            <a:ext cx="5212080" cy="1325880"/>
          </a:xfrm>
          <a:prstGeom prst="rect">
            <a:avLst/>
          </a:prstGeom>
          <a:solidFill>
            <a:srgbClr val="FFFFFF"/>
          </a:solidFill>
          <a:ln w="254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160519"/>
            <a:ext cx="4937760" cy="292608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</a:rPr>
              <a:t>Receita Petrobras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434840"/>
            <a:ext cx="4937760" cy="4572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3400" b="1">
                <a:solidFill>
                  <a:srgbClr val="ED7D31"/>
                </a:solidFill>
                <a:latin typeface="Arial"/>
              </a:rPr>
              <a:t>57%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937759"/>
            <a:ext cx="4937760" cy="3657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Arial"/>
              </a:rPr>
              <a:t>Concentração — renovação a monitorar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72200" y="4069079"/>
            <a:ext cx="5212080" cy="1325880"/>
          </a:xfrm>
          <a:prstGeom prst="rect">
            <a:avLst/>
          </a:prstGeom>
          <a:solidFill>
            <a:srgbClr val="FFFFFF"/>
          </a:solidFill>
          <a:ln w="25400">
            <a:solidFill>
              <a:srgbClr val="548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0" y="4160519"/>
            <a:ext cx="4937760" cy="292608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</a:rPr>
              <a:t>RSV/OSRV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4434840"/>
            <a:ext cx="4937760" cy="4572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3400" b="1">
                <a:solidFill>
                  <a:srgbClr val="548235"/>
                </a:solidFill>
                <a:latin typeface="Arial"/>
              </a:rPr>
              <a:t>Alta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4937759"/>
            <a:ext cx="4937760" cy="3657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Arial"/>
              </a:rPr>
              <a:t>Mais recorrente que PSV spot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377440"/>
            <a:ext cx="11155680" cy="2743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65960"/>
            <a:ext cx="1280160" cy="10058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6400" b="1">
                <a:solidFill>
                  <a:srgbClr val="ED7D31"/>
                </a:solidFill>
                <a:latin typeface="Arial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48840" y="2057400"/>
            <a:ext cx="9144000" cy="8229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3000" b="1">
                <a:solidFill>
                  <a:srgbClr val="002060"/>
                </a:solidFill>
                <a:latin typeface="Arial"/>
              </a:rPr>
              <a:t>Alavancagem operacional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48840" y="2926080"/>
            <a:ext cx="9144000" cy="5029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500" b="0">
                <a:solidFill>
                  <a:srgbClr val="595959"/>
                </a:solidFill>
                <a:latin typeface="Arial"/>
              </a:rPr>
              <a:t>Reprecificação de diárias e efeito no EBITDA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587044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595959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335024"/>
            <a:ext cx="11155680" cy="274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1389888"/>
            <a:ext cx="11384280" cy="4343400"/>
          </a:xfrm>
          <a:prstGeom prst="rect">
            <a:avLst/>
          </a:prstGeom>
          <a:solidFill>
            <a:srgbClr val="F5F7FA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587044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595959"/>
                </a:solidFill>
                <a:latin typeface="Arial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56032"/>
            <a:ext cx="111556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0">
                <a:solidFill>
                  <a:srgbClr val="002060"/>
                </a:solidFill>
                <a:latin typeface="Arial"/>
              </a:rPr>
              <a:t>Reprecificação de contratos faz receita incremental alavancar o EBITDA de forma desproporcional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60120"/>
            <a:ext cx="11155680" cy="347472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400" b="0">
                <a:solidFill>
                  <a:srgbClr val="595959"/>
                </a:solidFill>
                <a:latin typeface="Arial"/>
              </a:rPr>
              <a:t>Ponte EBITDA — RSV Feiticeiras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90472"/>
            <a:ext cx="10515600" cy="292608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Arial"/>
              </a:rPr>
              <a:t>EBITDA bridge — reprecificação de diária (exemplo Feiticeiras)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80644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595959"/>
                </a:solidFill>
                <a:latin typeface="Arial"/>
              </a:rPr>
              <a:t>Fonte: OceanPact 1T26; estimativas Market Makers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8952" y="3474720"/>
            <a:ext cx="1453896" cy="45720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3182112"/>
            <a:ext cx="1453896" cy="25603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200" b="1">
                <a:solidFill>
                  <a:srgbClr val="595959"/>
                </a:solidFill>
                <a:latin typeface="Arial"/>
              </a:rPr>
              <a:t>US$ 3,8M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3977639"/>
            <a:ext cx="1453896" cy="3657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900" b="0">
                <a:solidFill>
                  <a:srgbClr val="595959"/>
                </a:solidFill>
                <a:latin typeface="Arial"/>
              </a:rPr>
              <a:t>EBITDA legado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59152" y="3081528"/>
            <a:ext cx="1453896" cy="82296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59152" y="2788920"/>
            <a:ext cx="1453896" cy="25603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200" b="1">
                <a:solidFill>
                  <a:srgbClr val="008080"/>
                </a:solidFill>
                <a:latin typeface="Arial"/>
              </a:rPr>
              <a:t>+78%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59152" y="3977639"/>
            <a:ext cx="1453896" cy="3657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900" b="0">
                <a:solidFill>
                  <a:srgbClr val="595959"/>
                </a:solidFill>
                <a:latin typeface="Arial"/>
              </a:rPr>
              <a:t>Nova diária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59352" y="3236975"/>
            <a:ext cx="1453896" cy="64008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59352" y="2944368"/>
            <a:ext cx="1453896" cy="25603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200" b="1">
                <a:solidFill>
                  <a:srgbClr val="ED7D31"/>
                </a:solidFill>
                <a:latin typeface="Arial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9352" y="3977639"/>
            <a:ext cx="1453896" cy="3657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900" b="0">
                <a:solidFill>
                  <a:srgbClr val="595959"/>
                </a:solidFill>
                <a:latin typeface="Arial"/>
              </a:rPr>
              <a:t>Margem incr.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59552" y="2843784"/>
            <a:ext cx="1453896" cy="10058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59552" y="2551176"/>
            <a:ext cx="1453896" cy="25603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200" b="1">
                <a:solidFill>
                  <a:srgbClr val="002060"/>
                </a:solidFill>
                <a:latin typeface="Arial"/>
              </a:rPr>
              <a:t>US$ 15,3M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59552" y="3977639"/>
            <a:ext cx="1453896" cy="3657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900" b="0">
                <a:solidFill>
                  <a:srgbClr val="595959"/>
                </a:solidFill>
                <a:latin typeface="Arial"/>
              </a:rPr>
              <a:t>EBITDA novo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35240" y="1783080"/>
            <a:ext cx="3977639" cy="2651760"/>
          </a:xfrm>
          <a:prstGeom prst="rect">
            <a:avLst/>
          </a:prstGeom>
          <a:solidFill>
            <a:srgbClr val="FFFFFF"/>
          </a:solidFill>
          <a:ln w="254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1984248"/>
            <a:ext cx="3703320" cy="7772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4400" b="1">
                <a:solidFill>
                  <a:srgbClr val="ED7D31"/>
                </a:solidFill>
                <a:latin typeface="Arial"/>
              </a:rPr>
              <a:t>+303%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2743200"/>
            <a:ext cx="3703320" cy="15544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200" b="0">
                <a:solidFill>
                  <a:srgbClr val="595959"/>
                </a:solidFill>
                <a:latin typeface="Arial"/>
              </a:rPr>
              <a:t>EBITDA do barco
Diária +78%, custo fixo estável
Contratos até 2030</a:t>
            </a:r>
          </a:p>
        </p:txBody>
      </p:sp>
      <p:graphicFrame>
        <p:nvGraphicFramePr>
          <p:cNvPr id="25" name="Chart 24"/>
          <p:cNvGraphicFramePr>
            <a:graphicFrameLocks noGrp="1"/>
          </p:cNvGraphicFramePr>
          <p:nvPr/>
        </p:nvGraphicFramePr>
        <p:xfrm>
          <a:off x="685800" y="4572000"/>
          <a:ext cx="6400800" cy="868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377440"/>
            <a:ext cx="11155680" cy="2743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65960"/>
            <a:ext cx="1280160" cy="10058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6400" b="1">
                <a:solidFill>
                  <a:srgbClr val="ED7D31"/>
                </a:solidFill>
                <a:latin typeface="Arial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48840" y="2057400"/>
            <a:ext cx="9144000" cy="8229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3000" b="1">
                <a:solidFill>
                  <a:srgbClr val="002060"/>
                </a:solidFill>
                <a:latin typeface="Arial"/>
              </a:rPr>
              <a:t>Valuation e catalisadores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48840" y="2926080"/>
            <a:ext cx="9144000" cy="5029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500" b="0">
                <a:solidFill>
                  <a:srgbClr val="595959"/>
                </a:solidFill>
                <a:latin typeface="Arial"/>
              </a:rPr>
              <a:t>Múltiplo descontado, claims e fusão CBO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587044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595959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335024"/>
            <a:ext cx="11155680" cy="274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1389888"/>
            <a:ext cx="11384280" cy="4343400"/>
          </a:xfrm>
          <a:prstGeom prst="rect">
            <a:avLst/>
          </a:prstGeom>
          <a:solidFill>
            <a:srgbClr val="F5F7FA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587044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595959"/>
                </a:solidFill>
                <a:latin typeface="Arial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56032"/>
            <a:ext cx="111556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0">
                <a:solidFill>
                  <a:srgbClr val="002060"/>
                </a:solidFill>
                <a:latin typeface="Arial"/>
              </a:rPr>
              <a:t>Negociada a 3,7x EV/EBITDA, a OceanPact é a mais descontada do setor com caixa e claims visíveis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60120"/>
            <a:ext cx="11155680" cy="347472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400" b="0">
                <a:solidFill>
                  <a:srgbClr val="595959"/>
                </a:solidFill>
                <a:latin typeface="Arial"/>
              </a:rPr>
              <a:t>Comparáveis de mercado — 26E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90472"/>
            <a:ext cx="10515600" cy="292608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Arial"/>
              </a:rPr>
              <a:t>EV/EBITDA 26E — OceanPact vs referências (x)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80644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595959"/>
                </a:solidFill>
                <a:latin typeface="Arial"/>
              </a:rPr>
              <a:t>Fonte: Market Makers FIA  |  Ajuste exclui claims R$ 513M VP (~26% mkt cap)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85800" y="1828800"/>
          <a:ext cx="685800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ectangle 10"/>
          <p:cNvSpPr/>
          <p:nvPr/>
        </p:nvSpPr>
        <p:spPr>
          <a:xfrm>
            <a:off x="7818120" y="1920240"/>
            <a:ext cx="3520440" cy="2148840"/>
          </a:xfrm>
          <a:prstGeom prst="rect">
            <a:avLst/>
          </a:prstGeom>
          <a:solidFill>
            <a:srgbClr val="FFFFFF"/>
          </a:solidFill>
          <a:ln w="2540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0" y="2121408"/>
            <a:ext cx="3246120" cy="7772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4400" b="1">
                <a:solidFill>
                  <a:srgbClr val="002060"/>
                </a:solidFill>
                <a:latin typeface="Arial"/>
              </a:rPr>
              <a:t>3,7x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0" y="2880360"/>
            <a:ext cx="3246120" cy="10515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200" b="0">
                <a:solidFill>
                  <a:srgbClr val="595959"/>
                </a:solidFill>
                <a:latin typeface="Arial"/>
              </a:rPr>
              <a:t>EV/EBITDA 26E
Mais descontada
FCF yield elevado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5102352"/>
            <a:ext cx="69494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" y="5193792"/>
            <a:ext cx="6729983" cy="219456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Arial"/>
              </a:rPr>
              <a:t>OPCT adj. 3,1x após claims — abaixo do deal WSUT (4,4x)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" y="5431536"/>
            <a:ext cx="6729983" cy="219456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Arial"/>
              </a:rPr>
              <a:t>Média setorial 7,5x — gap de repricing se ciclo se mantém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335024"/>
            <a:ext cx="11155680" cy="274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1389888"/>
            <a:ext cx="11384280" cy="4343400"/>
          </a:xfrm>
          <a:prstGeom prst="rect">
            <a:avLst/>
          </a:prstGeom>
          <a:solidFill>
            <a:srgbClr val="F5F7FA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587044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595959"/>
                </a:solidFill>
                <a:latin typeface="Arial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56032"/>
            <a:ext cx="111556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0">
                <a:solidFill>
                  <a:srgbClr val="002060"/>
                </a:solidFill>
                <a:latin typeface="Arial"/>
              </a:rPr>
              <a:t>Fusão com a CBO cria o 2º maior OSV do Brasil sem diluir claims judiciais aos acionistas atuais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60120"/>
            <a:ext cx="11155680" cy="347472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400" b="0">
                <a:solidFill>
                  <a:srgbClr val="595959"/>
                </a:solidFill>
                <a:latin typeface="Arial"/>
              </a:rPr>
              <a:t>Escala da frota — antes e depois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90472"/>
            <a:ext cx="10515600" cy="292608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Arial"/>
              </a:rPr>
              <a:t>Embarcações operacionais (unidades)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80644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595959"/>
                </a:solidFill>
                <a:latin typeface="Arial"/>
              </a:rPr>
              <a:t>Fonte: OceanPact; Gradus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1371600" y="1874519"/>
          <a:ext cx="45720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ight Arrow 10"/>
          <p:cNvSpPr/>
          <p:nvPr/>
        </p:nvSpPr>
        <p:spPr>
          <a:xfrm>
            <a:off x="6217920" y="3154680"/>
            <a:ext cx="548640" cy="4572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040880" y="1828800"/>
            <a:ext cx="4572000" cy="10515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78040" y="1920240"/>
            <a:ext cx="4297680" cy="292608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</a:rPr>
              <a:t>Market share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78040" y="2212848"/>
            <a:ext cx="4297680" cy="384048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2800" b="1">
                <a:solidFill>
                  <a:srgbClr val="002060"/>
                </a:solidFill>
                <a:latin typeface="Arial"/>
              </a:rPr>
              <a:t>15%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2633472"/>
            <a:ext cx="4297680" cy="25603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Arial"/>
              </a:rPr>
              <a:t>2º maior OSV do Brasil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40880" y="3017520"/>
            <a:ext cx="4572000" cy="1051560"/>
          </a:xfrm>
          <a:prstGeom prst="rect">
            <a:avLst/>
          </a:prstGeom>
          <a:solidFill>
            <a:srgbClr val="FFFFFF"/>
          </a:solidFill>
          <a:ln w="254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78040" y="3108960"/>
            <a:ext cx="4297680" cy="292608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</a:rPr>
              <a:t>Sinergias/ano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3401568"/>
            <a:ext cx="4297680" cy="384048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2800" b="1">
                <a:solidFill>
                  <a:srgbClr val="ED7D31"/>
                </a:solidFill>
                <a:latin typeface="Arial"/>
              </a:rPr>
              <a:t>R$ 100M+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78040" y="3822191"/>
            <a:ext cx="4297680" cy="25603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Arial"/>
              </a:rPr>
              <a:t>Financia integração CBO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40880" y="4206240"/>
            <a:ext cx="4572000" cy="10515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78040" y="4297679"/>
            <a:ext cx="4297680" cy="292608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</a:rPr>
              <a:t>Acionistas OPCT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78040" y="4590288"/>
            <a:ext cx="4297680" cy="384048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2800" b="1">
                <a:solidFill>
                  <a:srgbClr val="002060"/>
                </a:solidFill>
                <a:latin typeface="Arial"/>
              </a:rPr>
              <a:t>42%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5010912"/>
            <a:ext cx="4297680" cy="25603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Arial"/>
              </a:rPr>
              <a:t>UP Coral preservada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335024"/>
            <a:ext cx="11155680" cy="274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1389888"/>
            <a:ext cx="11384280" cy="4343400"/>
          </a:xfrm>
          <a:prstGeom prst="rect">
            <a:avLst/>
          </a:prstGeom>
          <a:solidFill>
            <a:srgbClr val="F5F7FA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587044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595959"/>
                </a:solidFill>
                <a:latin typeface="Arial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56032"/>
            <a:ext cx="111556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0">
                <a:solidFill>
                  <a:srgbClr val="002060"/>
                </a:solidFill>
                <a:latin typeface="Arial"/>
              </a:rPr>
              <a:t>Só para igualar o múltiplo da WSUT, a OceanPact teria ~30% de upside; na média setorial, ~116%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60120"/>
            <a:ext cx="11155680" cy="347472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400" b="0">
                <a:solidFill>
                  <a:srgbClr val="595959"/>
                </a:solidFill>
                <a:latin typeface="Arial"/>
              </a:rPr>
              <a:t>Cenários de repricing de múltiplo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90472"/>
            <a:ext cx="10515600" cy="292608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Arial"/>
              </a:rPr>
              <a:t>Upside de repricing vs benchmarks de múltiplo (%)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80644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595959"/>
                </a:solidFill>
                <a:latin typeface="Arial"/>
              </a:rPr>
              <a:t>Fonte: Tidewater; estimativas Market Makers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1828800" y="1828800"/>
          <a:ext cx="6217920" cy="2926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ectangle 10"/>
          <p:cNvSpPr/>
          <p:nvPr/>
        </p:nvSpPr>
        <p:spPr>
          <a:xfrm>
            <a:off x="8092440" y="1920240"/>
            <a:ext cx="3246120" cy="21945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2121408"/>
            <a:ext cx="2971800" cy="7772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4400" b="1">
                <a:solidFill>
                  <a:srgbClr val="002060"/>
                </a:solidFill>
                <a:latin typeface="Arial"/>
              </a:rPr>
              <a:t>+116%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880360"/>
            <a:ext cx="2971800" cy="10972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200" b="0">
                <a:solidFill>
                  <a:srgbClr val="595959"/>
                </a:solidFill>
                <a:latin typeface="Arial"/>
              </a:rPr>
              <a:t>Upside vs.
média setorial 7,5x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5102352"/>
            <a:ext cx="105156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5193792"/>
            <a:ext cx="10296144" cy="219456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Arial"/>
              </a:rPr>
              <a:t>Tidewater pagou 4,4x na WSUT; OPCT negocia a 3,7x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5431536"/>
            <a:ext cx="10296144" cy="219456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Arial"/>
              </a:rPr>
              <a:t>Disciplina: perdeu leilão RSV 4T24; reconquistou com diárias ~60% maiores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335024"/>
            <a:ext cx="11155680" cy="274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1389888"/>
            <a:ext cx="11384280" cy="4343400"/>
          </a:xfrm>
          <a:prstGeom prst="rect">
            <a:avLst/>
          </a:prstGeom>
          <a:solidFill>
            <a:srgbClr val="F5F7FA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587044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595959"/>
                </a:solidFill>
                <a:latin typeface="Arial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56032"/>
            <a:ext cx="111556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0">
                <a:solidFill>
                  <a:srgbClr val="002060"/>
                </a:solidFill>
                <a:latin typeface="Arial"/>
              </a:rPr>
              <a:t>OceanPact oferece a melhor relação risco-retorno no offshore brasileiro — com disciplina em preço e execução CBO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60120"/>
            <a:ext cx="11155680" cy="347472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400" b="0">
                <a:solidFill>
                  <a:srgbClr val="595959"/>
                </a:solidFill>
                <a:latin typeface="Arial"/>
              </a:rPr>
              <a:t>Riscos a monitorar e conclusão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645920"/>
            <a:ext cx="5440680" cy="5105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19072"/>
            <a:ext cx="5349240" cy="4191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Impacto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1645920"/>
            <a:ext cx="5440680" cy="5105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80760" y="1719072"/>
            <a:ext cx="5349240" cy="4191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Prob.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2156460"/>
            <a:ext cx="8433054" cy="510540"/>
          </a:xfrm>
          <a:prstGeom prst="rect">
            <a:avLst/>
          </a:prstGeom>
          <a:solidFill>
            <a:srgbClr val="F5F7FA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2211324"/>
            <a:ext cx="7888986" cy="4191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900" b="1">
                <a:solidFill>
                  <a:srgbClr val="002060"/>
                </a:solidFill>
                <a:latin typeface="Arial"/>
              </a:rPr>
              <a:t>[Pilar 1] Capital intensity
Capex ROV vs geração de caixa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27414" y="2156460"/>
            <a:ext cx="1224153" cy="510540"/>
          </a:xfrm>
          <a:prstGeom prst="rect">
            <a:avLst/>
          </a:prstGeom>
          <a:solidFill>
            <a:srgbClr val="FFF2CC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73134" y="2229612"/>
            <a:ext cx="1132713" cy="40081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900" b="0">
                <a:solidFill>
                  <a:srgbClr val="595959"/>
                </a:solidFill>
                <a:latin typeface="Arial"/>
              </a:rPr>
              <a:t>Médio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251567" y="2156460"/>
            <a:ext cx="1224153" cy="510540"/>
          </a:xfrm>
          <a:prstGeom prst="rect">
            <a:avLst/>
          </a:prstGeom>
          <a:solidFill>
            <a:srgbClr val="FFC7C7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97287" y="2229612"/>
            <a:ext cx="1132713" cy="40081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900" b="0">
                <a:solidFill>
                  <a:srgbClr val="595959"/>
                </a:solidFill>
                <a:latin typeface="Arial"/>
              </a:rPr>
              <a:t>Alto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2667000"/>
            <a:ext cx="8433054" cy="510540"/>
          </a:xfrm>
          <a:prstGeom prst="rect">
            <a:avLst/>
          </a:prstGeom>
          <a:solidFill>
            <a:srgbClr val="F5F7FA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" y="2721864"/>
            <a:ext cx="7888986" cy="4191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900" b="1">
                <a:solidFill>
                  <a:srgbClr val="002060"/>
                </a:solidFill>
                <a:latin typeface="Arial"/>
              </a:rPr>
              <a:t>[Pilar 2] Petrobras 57%
Renovação contratos e mix RSV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27414" y="2667000"/>
            <a:ext cx="1224153" cy="510540"/>
          </a:xfrm>
          <a:prstGeom prst="rect">
            <a:avLst/>
          </a:prstGeom>
          <a:solidFill>
            <a:srgbClr val="FFC7C7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73134" y="2740152"/>
            <a:ext cx="1132713" cy="40081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900" b="0">
                <a:solidFill>
                  <a:srgbClr val="595959"/>
                </a:solidFill>
                <a:latin typeface="Arial"/>
              </a:rPr>
              <a:t>Alto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251567" y="2667000"/>
            <a:ext cx="1224153" cy="510540"/>
          </a:xfrm>
          <a:prstGeom prst="rect">
            <a:avLst/>
          </a:prstGeom>
          <a:solidFill>
            <a:srgbClr val="FF9696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97287" y="2740152"/>
            <a:ext cx="1132713" cy="40081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900" b="0">
                <a:solidFill>
                  <a:srgbClr val="595959"/>
                </a:solidFill>
                <a:latin typeface="Arial"/>
              </a:rPr>
              <a:t>Alto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3177540"/>
            <a:ext cx="8433054" cy="510540"/>
          </a:xfrm>
          <a:prstGeom prst="rect">
            <a:avLst/>
          </a:prstGeom>
          <a:solidFill>
            <a:srgbClr val="F5F7FA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" y="3232404"/>
            <a:ext cx="7888986" cy="4191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900" b="1">
                <a:solidFill>
                  <a:srgbClr val="002060"/>
                </a:solidFill>
                <a:latin typeface="Arial"/>
              </a:rPr>
              <a:t>[Pilar 3] Fusão CBO
Sinergias e alavancagem pós-deal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27414" y="3177540"/>
            <a:ext cx="1224153" cy="510540"/>
          </a:xfrm>
          <a:prstGeom prst="rect">
            <a:avLst/>
          </a:prstGeom>
          <a:solidFill>
            <a:srgbClr val="FFC7C7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73134" y="3250692"/>
            <a:ext cx="1132713" cy="40081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900" b="0">
                <a:solidFill>
                  <a:srgbClr val="595959"/>
                </a:solidFill>
                <a:latin typeface="Arial"/>
              </a:rPr>
              <a:t>Alto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251567" y="3177540"/>
            <a:ext cx="1224153" cy="510540"/>
          </a:xfrm>
          <a:prstGeom prst="rect">
            <a:avLst/>
          </a:prstGeom>
          <a:solidFill>
            <a:srgbClr val="FFF2CC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297287" y="3250692"/>
            <a:ext cx="1132713" cy="40081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900" b="0">
                <a:solidFill>
                  <a:srgbClr val="595959"/>
                </a:solidFill>
                <a:latin typeface="Arial"/>
              </a:rPr>
              <a:t>Médio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" y="3688080"/>
            <a:ext cx="8433054" cy="510540"/>
          </a:xfrm>
          <a:prstGeom prst="rect">
            <a:avLst/>
          </a:prstGeom>
          <a:solidFill>
            <a:srgbClr val="F5F7FA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7512" y="3742943"/>
            <a:ext cx="7888986" cy="4191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900" b="1">
                <a:solidFill>
                  <a:srgbClr val="002060"/>
                </a:solidFill>
                <a:latin typeface="Arial"/>
              </a:rPr>
              <a:t>[Macro] Ciclo óleo
Capex Petrobras se Brent cair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027414" y="3688080"/>
            <a:ext cx="1224153" cy="510540"/>
          </a:xfrm>
          <a:prstGeom prst="rect">
            <a:avLst/>
          </a:prstGeom>
          <a:solidFill>
            <a:srgbClr val="FFF2CC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73134" y="3761232"/>
            <a:ext cx="1132713" cy="40081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900" b="0">
                <a:solidFill>
                  <a:srgbClr val="595959"/>
                </a:solidFill>
                <a:latin typeface="Arial"/>
              </a:rPr>
              <a:t>Médio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251567" y="3688080"/>
            <a:ext cx="1224153" cy="510540"/>
          </a:xfrm>
          <a:prstGeom prst="rect">
            <a:avLst/>
          </a:prstGeom>
          <a:solidFill>
            <a:srgbClr val="FFF2CC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297287" y="3761232"/>
            <a:ext cx="1132713" cy="40081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900" b="0">
                <a:solidFill>
                  <a:srgbClr val="595959"/>
                </a:solidFill>
                <a:latin typeface="Arial"/>
              </a:rPr>
              <a:t>Médio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4360" y="4198620"/>
            <a:ext cx="8433054" cy="510540"/>
          </a:xfrm>
          <a:prstGeom prst="rect">
            <a:avLst/>
          </a:prstGeom>
          <a:solidFill>
            <a:srgbClr val="F5F7FA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7512" y="4253484"/>
            <a:ext cx="7888986" cy="4191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900" b="1">
                <a:solidFill>
                  <a:srgbClr val="002060"/>
                </a:solidFill>
                <a:latin typeface="Arial"/>
              </a:rPr>
              <a:t>[Mercado] Overhang PE
Saída Gradus e liquidez B3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027414" y="4198620"/>
            <a:ext cx="1224153" cy="510540"/>
          </a:xfrm>
          <a:prstGeom prst="rect">
            <a:avLst/>
          </a:prstGeom>
          <a:solidFill>
            <a:srgbClr val="FFF2CC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073134" y="4271772"/>
            <a:ext cx="1132713" cy="40081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900" b="0">
                <a:solidFill>
                  <a:srgbClr val="595959"/>
                </a:solidFill>
                <a:latin typeface="Arial"/>
              </a:rPr>
              <a:t>Médio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251567" y="4198620"/>
            <a:ext cx="1224153" cy="510540"/>
          </a:xfrm>
          <a:prstGeom prst="rect">
            <a:avLst/>
          </a:prstGeom>
          <a:solidFill>
            <a:srgbClr val="FFF2CC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297287" y="4271772"/>
            <a:ext cx="1132713" cy="40081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900" b="0">
                <a:solidFill>
                  <a:srgbClr val="595959"/>
                </a:solidFill>
                <a:latin typeface="Arial"/>
              </a:rPr>
              <a:t>Médio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94360" y="4709160"/>
            <a:ext cx="10881360" cy="10515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7240" y="4828032"/>
            <a:ext cx="10515600" cy="3200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400" b="1">
                <a:solidFill>
                  <a:srgbClr val="002060"/>
                </a:solidFill>
                <a:latin typeface="Arial"/>
              </a:rPr>
              <a:t>Recomendação Market Makers FIA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" y="5166360"/>
            <a:ext cx="10515600" cy="5029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</a:rPr>
              <a:t>OceanPact é a porta de entrada preferencial no ciclo: escassez defensável, EBITDA alavancado, múltiplo descontado com claims e catalisador CBO.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5596128"/>
            <a:ext cx="11155680" cy="5029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</a:rPr>
              <a:t>Material educativo — Market Makers FIA (mai/2026). Não constitui recomendação de investimento.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