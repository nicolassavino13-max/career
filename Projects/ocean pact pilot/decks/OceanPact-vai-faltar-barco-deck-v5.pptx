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OceanPact (OPCT3)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  <a:latin typeface="Arial"/>
              </a:rPr>
              <a:t>Vai faltar barco!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532120"/>
            <a:ext cx="100584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  <a:latin typeface="Arial"/>
              </a:rPr>
              <a:t>Market Makers FIA  ·  Tese de investimento  ·  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Escassez de OSVs, diárias em alta e múltiplo descontado posicionam a OceanPact como forte pagadora de dividendos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Tese Market Makers FIA — maio/2026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Market Makers FIA; estimativas da casa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72184"/>
            <a:ext cx="11155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45336"/>
            <a:ext cx="10881360" cy="4206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A Petrobras retoma capex offshore enquanto a oferta global de OSVs permanece estruturalmente comprimida. A OceanPact combina diárias reprecificadas, claims judiciais e o menor múltiplo do setor.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130552"/>
            <a:ext cx="534924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67712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CAPEX Petrobras 26–30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33472"/>
            <a:ext cx="4937760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800" b="1">
                <a:solidFill>
                  <a:srgbClr val="008080"/>
                </a:solidFill>
                <a:latin typeface="Arial"/>
              </a:rPr>
              <a:t>US$ 109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64992"/>
            <a:ext cx="4937760" cy="4389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Plano ancora demanda doméstica por década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130552"/>
            <a:ext cx="534924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267712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Diárias PSV BR (21→25)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33472"/>
            <a:ext cx="4937760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800" b="1">
                <a:solidFill>
                  <a:srgbClr val="ED7D31"/>
                </a:solidFill>
                <a:latin typeface="Arial"/>
              </a:rPr>
              <a:t>+119%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364992"/>
            <a:ext cx="4937760" cy="4389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Reprecificação contratual ainda em curso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005072"/>
            <a:ext cx="534924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42232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EV/EBITDA 26E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07992"/>
            <a:ext cx="4937760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800" b="1">
                <a:solidFill>
                  <a:srgbClr val="002060"/>
                </a:solidFill>
                <a:latin typeface="Arial"/>
              </a:rPr>
              <a:t>3,7x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39512"/>
            <a:ext cx="4937760" cy="4389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Menor múltiplo entre pares listados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005072"/>
            <a:ext cx="534924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142232"/>
            <a:ext cx="49377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Div. acum. 3 anos (est.)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507992"/>
            <a:ext cx="4937760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800" b="1">
                <a:solidFill>
                  <a:srgbClr val="ED7D31"/>
                </a:solidFill>
                <a:latin typeface="Arial"/>
              </a:rPr>
              <a:t>~67%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239512"/>
            <a:ext cx="4937760" cy="4389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Alta conversão de EBITDA em dividendos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Três pilares estruturam por que a OceanPact é a melhor porta de entrada no ciclo offshore brasileiro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35204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502920" cy="3840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880360"/>
            <a:ext cx="365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27432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Arial"/>
              </a:rPr>
              <a:t>Escassez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31720"/>
            <a:ext cx="274320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Oferta global comprimida; frota envelhecendo
Zero AHTS grande em obra no mundo
Demanda Petrobras US$ 109 bi 2026–30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35204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502920" cy="3840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880360"/>
            <a:ext cx="365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28800"/>
            <a:ext cx="27432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800" b="1">
                <a:solidFill>
                  <a:srgbClr val="008080"/>
                </a:solidFill>
                <a:latin typeface="Arial"/>
              </a:rPr>
              <a:t>Alavancagem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331720"/>
            <a:ext cx="274320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Diárias reprecificadas em contratos longos
EBITDA dispara com receita incremental
Cobertura de dívida ~88% pós-reprecificação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600200"/>
            <a:ext cx="35204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600200"/>
            <a:ext cx="502920" cy="3840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880360"/>
            <a:ext cx="365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828800"/>
            <a:ext cx="27432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Arial"/>
              </a:rPr>
              <a:t>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331720"/>
            <a:ext cx="274320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3,7x EV/EBITDA — desconto vs. pares
Claims judiciais R$ 513M VP (~26% mkt cap)
Fusão CBO sem diluir UP Coral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boom de 2010–14 destruiu frota e crédito; a virada de 2021–26 recria escassez estrutural de OSVs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Índice de diárias PSV grandes — Brasil (2014=100)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ABEAM; Clarksons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88735"/>
            <a:ext cx="1611630" cy="1037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16116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68695"/>
            <a:ext cx="16116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4589" y="2635623"/>
            <a:ext cx="1611630" cy="2904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4589" y="2971800"/>
            <a:ext cx="16116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4589" y="2315583"/>
            <a:ext cx="16116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Arial"/>
              </a:rPr>
              <a:t>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3379" y="2459274"/>
            <a:ext cx="1611630" cy="46680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3379" y="2971800"/>
            <a:ext cx="16116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3379" y="2139234"/>
            <a:ext cx="16116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32170" y="1691640"/>
            <a:ext cx="1611630" cy="123443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32170" y="2971800"/>
            <a:ext cx="16116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2170" y="1371600"/>
            <a:ext cx="16116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Arial"/>
              </a:rPr>
              <a:t>119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35204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1801368"/>
            <a:ext cx="324612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ED7D31"/>
                </a:solidFill>
                <a:latin typeface="Arial"/>
              </a:rPr>
              <a:t>+119%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2560320"/>
            <a:ext cx="324612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Diárias praticamente
dobraram em 2 anos
no Brasil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566160"/>
            <a:ext cx="3291840" cy="150876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657600"/>
            <a:ext cx="301752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2010–14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913632"/>
            <a:ext cx="301752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Boom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279392"/>
            <a:ext cx="3017520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500+ navios encomendados
Diárias no pico histórico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023360" y="4160520"/>
            <a:ext cx="274320" cy="320040"/>
          </a:xfrm>
          <a:prstGeom prst="rightArrow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3566160"/>
            <a:ext cx="3291840" cy="1508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3657600"/>
            <a:ext cx="301752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2015–20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3913632"/>
            <a:ext cx="301752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4279392"/>
            <a:ext cx="3017520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−60–80% diárias; quebra de produtores
Estaleiros fecham filas de pedido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680960" y="4160520"/>
            <a:ext cx="274320" cy="32004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3566160"/>
            <a:ext cx="3291840" cy="1508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0727" y="3657600"/>
            <a:ext cx="301752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2021–26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0727" y="3913632"/>
            <a:ext cx="301752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Virada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0727" y="4279392"/>
            <a:ext cx="3017520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~2x diárias em 2 anos
Oferta não acompanha capex BR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Porém, oferta nova só chega em 2028+ — e diárias atuais ainda não justificam construir navio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TIR da construção de PSV vs WACC do setor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Estimativas Market Makers; Clarksons  |  Diária mín. VPL&gt;0: ~US$ 45k (+12,5% vs. atual)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44368"/>
            <a:ext cx="1539240" cy="3017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153924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TIR PSV
novo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7"/>
            <a:ext cx="153924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Arial"/>
              </a:rPr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6480" y="2810256"/>
            <a:ext cx="1539240" cy="435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6480" y="3291839"/>
            <a:ext cx="153924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WACC
setor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6480" y="2490216"/>
            <a:ext cx="153924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Arial"/>
              </a:rPr>
              <a:t>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92879" y="1737359"/>
            <a:ext cx="1539240" cy="1508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2879" y="3291839"/>
            <a:ext cx="153924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Diária mín.
VPL&gt;0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2879" y="1417319"/>
            <a:ext cx="153924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13048"/>
            <a:ext cx="466344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3600" b="1">
                <a:solidFill>
                  <a:srgbClr val="ED7D31"/>
                </a:solidFill>
                <a:latin typeface="Arial"/>
              </a:rPr>
              <a:t>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42231"/>
            <a:ext cx="466344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TIR atual — abaixo do custo de capital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02352"/>
            <a:ext cx="4983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93792"/>
            <a:ext cx="4764024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CEO racional não encomenda com TIR &lt; WACC — estaleiros sem fila de pedidos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431536"/>
            <a:ext cx="4764024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Entrega de navio novo só a partir de 2028; janela de escassez se mantém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600200"/>
            <a:ext cx="5623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70992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Pedidos globais PSV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1746504"/>
            <a:ext cx="109728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810512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Alto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1691640"/>
            <a:ext cx="18288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&lt;50 vs 250+
Fila estaleiro vazia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514600"/>
            <a:ext cx="5623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62432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AHTS grande em obra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2660904"/>
            <a:ext cx="109728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2724912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Crítico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606040"/>
            <a:ext cx="18288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Zero no mundo
Escassez extrema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3429000"/>
            <a:ext cx="5623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53872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Idade média frota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3575304"/>
            <a:ext cx="109728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3639312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Alto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3520440"/>
            <a:ext cx="18288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13a → 17a
Mais paradas técnicas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4343400"/>
            <a:ext cx="5623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45312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Entrega navio novo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4489704"/>
            <a:ext cx="109728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4553712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Crítico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4434840"/>
            <a:ext cx="18288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2028+
Janela de escassez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capex de US$ 109 bi da Petrobras 2026–30 ancora demanda por OSVs no Brasil por uma década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Plano Estratégico 2026–30 — composição do CAPEX (US$ bi)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Petrobras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0058400" cy="3474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Arial"/>
              </a:rPr>
              <a:t>19 FPSOs no plano → ~30 embarcações de apoio adicionais estimadas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107899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CAPEX total US$ 109 bi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075688"/>
            <a:ext cx="7721227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258568"/>
            <a:ext cx="7574923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E&amp;P US$ 78 bi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07027" y="2075688"/>
            <a:ext cx="1009698" cy="7315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0179" y="2258568"/>
            <a:ext cx="863394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Descom. US$ 10,2 bi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6726" y="2075688"/>
            <a:ext cx="2058993" cy="73152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9878" y="2258568"/>
            <a:ext cx="1912689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Outros US$ 20,8 bi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942873"/>
            <a:ext cx="2594610" cy="1719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FPSOs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22833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7570" y="3843337"/>
            <a:ext cx="2594610" cy="27146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7570" y="41605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Navios+
(est.)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7570" y="3523297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Arial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4078605"/>
            <a:ext cx="2594610" cy="3619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9340" y="41605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Contrato
(anos)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9340" y="3758565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81110" y="3246120"/>
            <a:ext cx="2594610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1110" y="41605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Frota BR
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1110" y="2926080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96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102352"/>
            <a:ext cx="10515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193792"/>
            <a:ext cx="10296144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Contratos típicos de 4 anos travam diárias mesmo se spot offshore cair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431536"/>
            <a:ext cx="10296144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Cabotagem: 96% da frota OPCT no Brasil — barreira regulatória ao entrante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A OceanPact é uma plataforma offshore integrada — o barco é só parte da solução operacional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Mix de receita e ativos — 1T26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OceanPact; Market Makers FIA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19"/>
            <a:ext cx="107899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Segmentos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5934456" cy="5943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851660"/>
            <a:ext cx="5788152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Embarcações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6" y="1737360"/>
            <a:ext cx="4855464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851660"/>
            <a:ext cx="47091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Serviços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560320"/>
            <a:ext cx="5212080" cy="1353312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51760"/>
            <a:ext cx="493776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Frota operacional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26079"/>
            <a:ext cx="4937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400" b="1">
                <a:solidFill>
                  <a:srgbClr val="002060"/>
                </a:solidFill>
                <a:latin typeface="Arial"/>
              </a:rP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01568"/>
            <a:ext cx="493776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embarcações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39311"/>
            <a:ext cx="493776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Cabotagem protege base instalada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560320"/>
            <a:ext cx="5212080" cy="1353312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651760"/>
            <a:ext cx="493776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ROVs work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26079"/>
            <a:ext cx="4937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400" b="1">
                <a:solidFill>
                  <a:srgbClr val="008080"/>
                </a:solidFill>
                <a:latin typeface="Arial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01568"/>
            <a:ext cx="493776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unidades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39311"/>
            <a:ext cx="493776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Ticket médio maior por contrato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069079"/>
            <a:ext cx="5212080" cy="1353312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60519"/>
            <a:ext cx="493776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Receita Petrobras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4937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400" b="1">
                <a:solidFill>
                  <a:srgbClr val="ED7D31"/>
                </a:solidFill>
                <a:latin typeface="Arial"/>
              </a:rPr>
              <a:t>53%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10327"/>
            <a:ext cx="493776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do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48071"/>
            <a:ext cx="493776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Longo prazo; concentração a monitorar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069079"/>
            <a:ext cx="5212080" cy="1353312"/>
          </a:xfrm>
          <a:prstGeom prst="rect">
            <a:avLst/>
          </a:prstGeom>
          <a:solidFill>
            <a:srgbClr val="FFFFFF"/>
          </a:solidFill>
          <a:ln w="254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160519"/>
            <a:ext cx="493776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RSV/OSRV mix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434840"/>
            <a:ext cx="4937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400" b="1">
                <a:solidFill>
                  <a:srgbClr val="548235"/>
                </a:solidFill>
                <a:latin typeface="Arial"/>
              </a:rPr>
              <a:t>Alta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910327"/>
            <a:ext cx="493776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recorrência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148071"/>
            <a:ext cx="493776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Mais estável que PSV puro spot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Reprecificação de contratos faz receita incremental alavancar o EBITDA de forma desproporcional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Ponte EBITDA — reprecificação RSV (exemplo Feiticeiras)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 1T26; estimativas Market Makers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3303270"/>
            <a:ext cx="1453896" cy="44577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010662"/>
            <a:ext cx="14538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US$ 3,8M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794759"/>
            <a:ext cx="14538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EBITDA
legado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2919907"/>
            <a:ext cx="1453896" cy="80238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9152" y="2627299"/>
            <a:ext cx="14538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008080"/>
                </a:solidFill>
                <a:latin typeface="Arial"/>
              </a:rPr>
              <a:t>+78%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3794759"/>
            <a:ext cx="14538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Nova
diária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59352" y="3071469"/>
            <a:ext cx="1453896" cy="62407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778861"/>
            <a:ext cx="14538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Aria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9352" y="3794759"/>
            <a:ext cx="14538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Margem
incremental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59552" y="2688107"/>
            <a:ext cx="1453896" cy="98069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9552" y="2395499"/>
            <a:ext cx="14538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002060"/>
                </a:solidFill>
                <a:latin typeface="Arial"/>
              </a:rPr>
              <a:t>US$ 15,3M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3794759"/>
            <a:ext cx="14538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EBITDA
novo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1645920"/>
            <a:ext cx="3977639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1847088"/>
            <a:ext cx="370332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ED7D31"/>
                </a:solidFill>
                <a:latin typeface="Arial"/>
              </a:rPr>
              <a:t>+303%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606040"/>
            <a:ext cx="3703320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EBITDA do barco Feiticeiras
Diária +78% com custo fixo estável
Contratos travados até 2030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692534"/>
            <a:ext cx="2042160" cy="1662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54880"/>
            <a:ext cx="20421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Rec.+8%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372494"/>
            <a:ext cx="20421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65120" y="4646814"/>
            <a:ext cx="2042160" cy="6234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65120" y="4754880"/>
            <a:ext cx="20421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EBITDA+30%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65120" y="4326774"/>
            <a:ext cx="20421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44440" y="4526280"/>
            <a:ext cx="2042160" cy="1828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4440" y="4754880"/>
            <a:ext cx="20421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Cob.88%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4440" y="4206240"/>
            <a:ext cx="20421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Negociada a 3,7x EV/EBITDA, a OceanPact é a mais descontada do setor com caixa e claims visíveis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EV/EBITDA 26E — OceanPact vs referências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Market Makers FIA  |  Ajuste exclui claims não operacionais de R$ 513M VP (~26% mkt cap)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48660"/>
            <a:ext cx="1611630" cy="103753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16116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OPCT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28620"/>
            <a:ext cx="16116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Arial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4589" y="3016910"/>
            <a:ext cx="1611630" cy="8692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4589" y="3931920"/>
            <a:ext cx="16116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OPCT
adj.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4589" y="2696870"/>
            <a:ext cx="16116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3379" y="2652369"/>
            <a:ext cx="1611630" cy="123383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3379" y="3931920"/>
            <a:ext cx="16116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WSUT
deal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3379" y="2332329"/>
            <a:ext cx="16116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32170" y="1783080"/>
            <a:ext cx="1611630" cy="2103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32170" y="3931920"/>
            <a:ext cx="16116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Média
setor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2170" y="1463040"/>
            <a:ext cx="16116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737360"/>
            <a:ext cx="35204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1938528"/>
            <a:ext cx="324612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002060"/>
                </a:solidFill>
                <a:latin typeface="Arial"/>
              </a:rPr>
              <a:t>3,7x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2697480"/>
            <a:ext cx="3246120" cy="10515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EV/EBITDA 26E
Mais descontada do setor
FCF yield + caixa líquido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102352"/>
            <a:ext cx="6949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5193792"/>
            <a:ext cx="6729983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OPCT adj. 3,1x após claims — ainda abaixo do deal WSUT (4,4x)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5431536"/>
            <a:ext cx="6729983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Média setorial 7,5x — gap de repricing se ciclo offshore se mantém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Fusão com a CBO cria o 2º maior OSV do Brasil sem diluir claims judiciais aos acionistas atuais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Escala da frota — antes e depois da combinação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OceanPact; Gradus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544239"/>
            <a:ext cx="1432560" cy="982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1432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OPCT
(28)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24199"/>
            <a:ext cx="1432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1320" y="2948000"/>
            <a:ext cx="1432560" cy="157827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1320" y="4572000"/>
            <a:ext cx="1432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CBO
(45)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1320" y="2627960"/>
            <a:ext cx="1432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1040" y="1965960"/>
            <a:ext cx="1432560" cy="2560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1040" y="4572000"/>
            <a:ext cx="1432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Combinada
(73)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1040" y="1645920"/>
            <a:ext cx="1432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73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217920" y="3108960"/>
            <a:ext cx="54864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1783080"/>
            <a:ext cx="4572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1874520"/>
            <a:ext cx="429768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Market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167128"/>
            <a:ext cx="4297680" cy="3840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Arial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587752"/>
            <a:ext cx="429768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2º maior OSV do Brasil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3017520"/>
            <a:ext cx="4572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3108960"/>
            <a:ext cx="429768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Sinergias/ano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401568"/>
            <a:ext cx="4297680" cy="3840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ED7D31"/>
                </a:solidFill>
                <a:latin typeface="Arial"/>
              </a:rPr>
              <a:t>R$ 100M+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822192"/>
            <a:ext cx="429768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Financia integração; dívida FMM ~5,8%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4251960"/>
            <a:ext cx="4572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4343400"/>
            <a:ext cx="429768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Acionistas OPCT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636008"/>
            <a:ext cx="4297680" cy="3840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Arial"/>
              </a:rPr>
              <a:t>42%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5056632"/>
            <a:ext cx="429768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UP Coral preservada — claims não diluídos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Só para igualar o múltiplo da WSUT, a OceanPact teria ~30% de upside; na média setorial, ~116%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Upside de repricing — cenários de múltiplo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Tidewater; estimativas Market Makers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3625280"/>
            <a:ext cx="3040379" cy="62667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297680"/>
            <a:ext cx="3040379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WSUT
+30%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05240"/>
            <a:ext cx="3040379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23459" y="1828800"/>
            <a:ext cx="3040379" cy="2423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3459" y="4297680"/>
            <a:ext cx="3040379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Média
+116%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3459" y="1508760"/>
            <a:ext cx="3040379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116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32461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38528"/>
            <a:ext cx="2971800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002060"/>
                </a:solidFill>
                <a:latin typeface="Arial"/>
              </a:rPr>
              <a:t>+116%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97480"/>
            <a:ext cx="2971800" cy="11887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Upside vs. média
setorial 7,5x EV/EBITDA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02352"/>
            <a:ext cx="10515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193792"/>
            <a:ext cx="10296144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+30% para igualar WSUT — Tidewater pagou 4,4x; OPCT negocia a 3,7x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431536"/>
            <a:ext cx="10296144" cy="21945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Disciplina de preço: perdeu leilão RSV 4T24; reconquistou com diárias ~60% maiores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Concentração na Petrobras e integração CBO são os principais riscos a monitorar na tese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Matriz de riscos — impacto vs probabilidade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5440680" cy="6324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5349240" cy="5410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Impacto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45920"/>
            <a:ext cx="5440680" cy="6324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719072"/>
            <a:ext cx="5349240" cy="5410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Prob.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278380"/>
            <a:ext cx="7616952" cy="6324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333244"/>
            <a:ext cx="7072884" cy="5410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Capital intensity
Monitorar: capex ROV vs geração de caixa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11312" y="2278380"/>
            <a:ext cx="1632204" cy="63246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2351532"/>
            <a:ext cx="1540764" cy="5227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3516" y="2278380"/>
            <a:ext cx="1632204" cy="632460"/>
          </a:xfrm>
          <a:prstGeom prst="rect">
            <a:avLst/>
          </a:prstGeom>
          <a:solidFill>
            <a:srgbClr val="FFC7C7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89236" y="2351532"/>
            <a:ext cx="1540764" cy="5227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910840"/>
            <a:ext cx="7616952" cy="6324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965704"/>
            <a:ext cx="7072884" cy="5410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Petrobras 57%
Monitorar: renovação contratos e mix RSV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11312" y="2910840"/>
            <a:ext cx="1632204" cy="632460"/>
          </a:xfrm>
          <a:prstGeom prst="rect">
            <a:avLst/>
          </a:prstGeom>
          <a:solidFill>
            <a:srgbClr val="FFC7C7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2983992"/>
            <a:ext cx="1540764" cy="5227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43516" y="2910840"/>
            <a:ext cx="1632204" cy="632460"/>
          </a:xfrm>
          <a:prstGeom prst="rect">
            <a:avLst/>
          </a:prstGeom>
          <a:solidFill>
            <a:srgbClr val="FF9696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9236" y="2983992"/>
            <a:ext cx="1540764" cy="5227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543300"/>
            <a:ext cx="7616952" cy="6324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598164"/>
            <a:ext cx="7072884" cy="5410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Fusão CBO
Monitorar: sinergias e alavancagem pós-deal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3543300"/>
            <a:ext cx="1632204" cy="632460"/>
          </a:xfrm>
          <a:prstGeom prst="rect">
            <a:avLst/>
          </a:prstGeom>
          <a:solidFill>
            <a:srgbClr val="FFC7C7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3616452"/>
            <a:ext cx="1540764" cy="5227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43516" y="3543300"/>
            <a:ext cx="1632204" cy="63246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9236" y="3616452"/>
            <a:ext cx="1540764" cy="5227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175760"/>
            <a:ext cx="7616952" cy="6324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230624"/>
            <a:ext cx="7072884" cy="5410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Ciclo óleo
Monitorar: capex Petrobras se Brent cair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11312" y="4175760"/>
            <a:ext cx="1632204" cy="63246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2" y="4248912"/>
            <a:ext cx="1540764" cy="5227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43516" y="4175760"/>
            <a:ext cx="1632204" cy="63246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89236" y="4248912"/>
            <a:ext cx="1540764" cy="5227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808220"/>
            <a:ext cx="7616952" cy="63246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4863084"/>
            <a:ext cx="7072884" cy="5410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Overhang PE
Monitorar: saída Gradus e liquidez B3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11312" y="4808220"/>
            <a:ext cx="1632204" cy="63246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2" y="4881372"/>
            <a:ext cx="1540764" cy="5227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43516" y="4808220"/>
            <a:ext cx="1632204" cy="63246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89236" y="4881372"/>
            <a:ext cx="1540764" cy="5227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offshore brasileiro mudou estruturalmente — OceanPact oferece a melhor relação risco-retorno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Conclusão — convicção Market Makers 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09928"/>
            <a:ext cx="3474720" cy="6583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Escassez + cabotagem
Oferta comprimida; 96% frota no Brasil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856232"/>
            <a:ext cx="699516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856232"/>
            <a:ext cx="6645402" cy="3474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92840" y="1892808"/>
            <a:ext cx="45720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002060"/>
                </a:solidFill>
                <a:latin typeface="Arial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3474720" cy="6583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EBITDA contratado 88%
Receita visível em contratos longos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660904"/>
            <a:ext cx="699516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2660904"/>
            <a:ext cx="6155740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92840" y="2697480"/>
            <a:ext cx="45720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008080"/>
                </a:solidFill>
                <a:latin typeface="Arial"/>
              </a:rPr>
              <a:t>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3474720" cy="6583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Caixa + claims
R$ 513M VP + geração operacional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465576"/>
            <a:ext cx="699516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3465576"/>
            <a:ext cx="6295644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92840" y="3502152"/>
            <a:ext cx="45720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ED7D31"/>
                </a:solidFill>
                <a:latin typeface="Arial"/>
              </a:rP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23944"/>
            <a:ext cx="3474720" cy="6583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Múltiplo descontado
3,7x vs 7,5x média setorial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4270248"/>
            <a:ext cx="699516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4270248"/>
            <a:ext cx="5945886" cy="3474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92840" y="4306824"/>
            <a:ext cx="45720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002060"/>
                </a:solidFill>
                <a:latin typeface="Arial"/>
              </a:rPr>
              <a:t>85%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928616"/>
            <a:ext cx="3474720" cy="6583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Fusão CBO
Escala sem diluir claims judiciais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074920"/>
            <a:ext cx="699516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0520" y="5074920"/>
            <a:ext cx="5596128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92840" y="5111496"/>
            <a:ext cx="45720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008080"/>
                </a:solidFill>
                <a:latin typeface="Arial"/>
              </a:rPr>
              <a:t>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96128"/>
            <a:ext cx="1115568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Material educativo — Market Makers FIA (mai/2026). Não constitui recomendação de investimento.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