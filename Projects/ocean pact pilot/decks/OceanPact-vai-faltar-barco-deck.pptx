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88952" cy="1508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OceanPact (OPCT3)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D7D31"/>
                </a:solidFill>
                <a:latin typeface="Arial"/>
              </a:rPr>
              <a:t>Vai faltar barco!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577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8D2E6"/>
                </a:solidFill>
                <a:latin typeface="Arial"/>
              </a:rPr>
              <a:t>Market Makers FIA  ·  Tese de investimento  ·  Maio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Tese em uma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2060"/>
                </a:solidFill>
                <a:latin typeface="Arial"/>
              </a:rPr>
              <a:t>Escassez estrutural de OSVs no Brasil + diárias em alta + OceanPact com EBITDA contratado e múltiplo descontado = forte pagadora de dividendos.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8404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840480"/>
            <a:ext cx="2697480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CAPEX Petrobras 26–30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8080"/>
                </a:solidFill>
                <a:latin typeface="Arial"/>
              </a:rPr>
              <a:t>US$ 109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8404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3840480"/>
            <a:ext cx="2697480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40233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Diárias PSV BR (21→25)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42976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8080"/>
                </a:solidFill>
                <a:latin typeface="Arial"/>
              </a:rPr>
              <a:t>+119%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8404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840480"/>
            <a:ext cx="2697480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EBITDA 25→27E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D7D31"/>
                </a:solidFill>
                <a:latin typeface="Arial"/>
              </a:rPr>
              <a:t>R$ 653M → R$ 1 bi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38404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3840480"/>
            <a:ext cx="2697480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40233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EV/EBITDA 26E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42976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D7D31"/>
                </a:solidFill>
                <a:latin typeface="Arial"/>
              </a:rPr>
              <a:t>3,7x (mais barata do setor)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Três pilares da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EC8DC"/>
                </a:solidFill>
                <a:latin typeface="Arial"/>
              </a:rPr>
              <a:t>Estrutura do relatório Market Makers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611880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35607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Escassez + demanda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• Boom 2010–14 destruído na crise 15–20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• Quase zero navios novos em 10 anos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• Petrobras retoma capex — falta barco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• Diárias ~2x em 2 anos no Brasil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2588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25880"/>
            <a:ext cx="3611880" cy="5029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17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435607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Alavancagem operacional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• Custos fixos + diária variável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• RSVs reprecificados +60% médio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• Contratos 4 anos travam preço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• Receita +8% → EBITDA +30% (1T26)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361188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417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435607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Valuation + caixa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01168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• Múltiplo mais baixo dos pares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• FCF yield 18,5% / 20% (27–28E)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• Claims UP ~R$ 513M VP (26% mkt cap)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• Dividendos: até 67% mkt cap em 3 anos (est.)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De onde veio a escassez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EC8DC"/>
                </a:solidFill>
                <a:latin typeface="Arial"/>
              </a:rPr>
              <a:t>O setor queimou frota, estaleiros e crédito — e não reconstruiu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520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520440" cy="6400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Arial"/>
              </a:rPr>
              <a:t>2003–2014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BOOM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3108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95959"/>
                </a:solidFill>
                <a:latin typeface="Arial"/>
              </a:rPr>
              <a:t>500+ barcos BR · diárias US$ 50–150k · dívida barata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520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520440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087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Arial"/>
              </a:rPr>
              <a:t>2015–2020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7830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BUST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77440"/>
            <a:ext cx="3108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95959"/>
                </a:solidFill>
                <a:latin typeface="Arial"/>
              </a:rPr>
              <a:t>Brent US$ 110→30 · Lava Jato · 70+ barcos parados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3520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352044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5087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Arial"/>
              </a:rPr>
              <a:t>2021–2026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7830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VIRADA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377440"/>
            <a:ext cx="3108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95959"/>
                </a:solidFill>
                <a:latin typeface="Arial"/>
              </a:rPr>
              <a:t>Diárias sobem · oferta nova = 2028+ · vai faltar barco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69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2060"/>
                </a:solidFill>
                <a:latin typeface="Arial"/>
              </a:rPr>
              <a:t>Carteira global PSV grande: &lt;50 pedidos (vs 250+ no pico). Zero AHTS grande em construção.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Por que a escassez é estrutural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EC8DC"/>
                </a:solidFill>
                <a:latin typeface="Arial"/>
              </a:rPr>
              <a:t>Não é só ciclo — é oferta comprimida por anos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9728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060"/>
                </a:solidFill>
                <a:latin typeface="Arial"/>
              </a:rPr>
              <a:t>Oferta nova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PSV novo só 2028+ · estaleiros -56% · financiamento restrito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788920"/>
            <a:ext cx="109728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8080"/>
                </a:solidFill>
                <a:latin typeface="Arial"/>
              </a:rPr>
              <a:t>Frota envelhecida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PSV global média 13 anos → 17 em 2030 · docagens caras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206240"/>
            <a:ext cx="109728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9767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Arial"/>
              </a:rPr>
              <a:t>CEOs traumatizados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Sem navio sem contrato longo · dividendos &gt; frota alavancada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371600"/>
            <a:ext cx="393192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5544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2060"/>
                </a:solidFill>
                <a:latin typeface="Arial"/>
              </a:rPr>
              <a:t>Para justificar PSV novo (WACC ~13%)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103120"/>
            <a:ext cx="3566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D7D31"/>
                </a:solidFill>
                <a:latin typeface="Arial"/>
              </a:rPr>
              <a:t>US$ 45k+/dia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200400"/>
            <a:ext cx="35661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Diária atual ~US$ 40k gera TIR ~9% — abaixo do custo de capital. Ninguém constrói.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Demanda: Brasil é a bola da vez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EC8DC"/>
                </a:solidFill>
                <a:latin typeface="Arial"/>
              </a:rPr>
              <a:t>Petrobras 2026–2030 ancora o ciclo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69748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CAPEX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2060"/>
                </a:solidFill>
                <a:latin typeface="Arial"/>
              </a:rPr>
              <a:t>US$ 109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Plano Estratégico 26–30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258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25880"/>
            <a:ext cx="2697480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5087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E&amp;P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7830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8080"/>
                </a:solidFill>
                <a:latin typeface="Arial"/>
              </a:rPr>
              <a:t>US$ 78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8600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19 FPSOs novas → ~30+ OSVs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325880"/>
            <a:ext cx="2697480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087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Descomissionamento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D7D31"/>
                </a:solidFill>
                <a:latin typeface="Arial"/>
              </a:rPr>
              <a:t>US$ 10,2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RSV/AHTS/OSRV · contrato Trident &gt;R$1bi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325880"/>
            <a:ext cx="2514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325880"/>
            <a:ext cx="2514600" cy="914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50876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Contratos BR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17830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48235"/>
                </a:solidFill>
                <a:latin typeface="Arial"/>
              </a:rPr>
              <a:t>4 anos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28600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vs 3–18 meses Mar do Norte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017520"/>
            <a:ext cx="111556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</a:pPr>
            <a:r>
              <a:rPr sz="1500" b="0">
                <a:solidFill>
                  <a:srgbClr val="595959"/>
                </a:solidFill>
                <a:latin typeface="Arial"/>
              </a:rPr>
              <a:t>→ Cada FPSO em hook-up: 5–7 embarcações simultâneas por 8–16 semanas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595959"/>
                </a:solidFill>
                <a:latin typeface="Arial"/>
              </a:rPr>
              <a:t>→ Produção offshore = demanda recorrente (manutenção, ROV, OSRV)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595959"/>
                </a:solidFill>
                <a:latin typeface="Arial"/>
              </a:rPr>
              <a:t>→ Lei de Cabotagem: só EBN com bandeira BR — OPCT 96% BR/REB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595959"/>
                </a:solidFill>
                <a:latin typeface="Arial"/>
              </a:rPr>
              <a:t>→ Margem Equatorial: US$ 3 bi exploratório → opcionalidade de décadas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Quem é a OceanPact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EC8DC"/>
                </a:solidFill>
                <a:latin typeface="Arial"/>
              </a:rPr>
              <a:t>Plataforma offshore — não só afretamento de barcos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486400" cy="44805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002060"/>
                </a:solidFill>
                <a:latin typeface="Arial"/>
              </a:rPr>
              <a:t>Fundada 2007 — origem em resposta ambiental (Deepwater Horizon 2010)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595959"/>
                </a:solidFill>
                <a:latin typeface="Arial"/>
              </a:rPr>
              <a:t>23 embarcações operacionais (1T26) + 11 ROVs work class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595959"/>
                </a:solidFill>
                <a:latin typeface="Arial"/>
              </a:rPr>
              <a:t>2 segmentos: Embarcações (diária) + Serviços (ROV, spill, geo)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595959"/>
                </a:solidFill>
                <a:latin typeface="Arial"/>
              </a:rPr>
              <a:t>53% receita Petrobras — risco e barreira de entrada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595959"/>
                </a:solidFill>
                <a:latin typeface="Arial"/>
              </a:rPr>
              <a:t>Mix RSV/OSRV &gt; PSV puro → mais recorrente, menos exploratório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32588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8080"/>
                </a:solidFill>
                <a:latin typeface="Arial"/>
              </a:rPr>
              <a:t>3 motores do modelo</a:t>
            </a:r>
          </a:p>
        </p:txBody>
      </p:sp>
      <p:sp>
        <p:nvSpPr>
          <p:cNvPr id="9" name="Oval 8"/>
          <p:cNvSpPr/>
          <p:nvPr/>
        </p:nvSpPr>
        <p:spPr>
          <a:xfrm>
            <a:off x="6537960" y="2011680"/>
            <a:ext cx="411480" cy="4114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8483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0574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060"/>
                </a:solidFill>
                <a:latin typeface="Arial"/>
              </a:rPr>
              <a:t>Diária × utilização</a:t>
            </a:r>
          </a:p>
        </p:txBody>
      </p:sp>
      <p:sp>
        <p:nvSpPr>
          <p:cNvPr id="12" name="Oval 11"/>
          <p:cNvSpPr/>
          <p:nvPr/>
        </p:nvSpPr>
        <p:spPr>
          <a:xfrm>
            <a:off x="6537960" y="3108960"/>
            <a:ext cx="411480" cy="4114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1821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1546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060"/>
                </a:solidFill>
                <a:latin typeface="Arial"/>
              </a:rPr>
              <a:t>Serviços técnicos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4206240"/>
            <a:ext cx="411480" cy="4114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2793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251959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060"/>
                </a:solidFill>
                <a:latin typeface="Arial"/>
              </a:rPr>
              <a:t>Frota + serviço integrado (RSV+ROV)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Pilar 2 — Alavancagem operacional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EC8DC"/>
                </a:solidFill>
                <a:latin typeface="Arial"/>
              </a:rPr>
              <a:t>Mais diária cai quase inteira no EBITDA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697480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EBITDA 25→26E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8080"/>
                </a:solidFill>
                <a:latin typeface="Arial"/>
              </a:rPr>
              <a:t>+39%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R$ 653M → R$ 900M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258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25880"/>
            <a:ext cx="269748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5087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Margem EBITDA 1T26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7830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2060"/>
                </a:solidFill>
                <a:latin typeface="Arial"/>
              </a:rPr>
              <a:t>33%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8600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+6 p.p. a/a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325880"/>
            <a:ext cx="2697480" cy="914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087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Cobertura contratual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48235"/>
                </a:solidFill>
                <a:latin typeface="Arial"/>
              </a:rPr>
              <a:t>88%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do EBITDA 26E já contratado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325880"/>
            <a:ext cx="2514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325880"/>
            <a:ext cx="2514600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50876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RSV reprecificação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17830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D7D31"/>
                </a:solidFill>
                <a:latin typeface="Arial"/>
              </a:rPr>
              <a:t>+60%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28600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média · contratos até 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926080"/>
            <a:ext cx="111556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060"/>
                </a:solidFill>
                <a:latin typeface="Arial"/>
              </a:rPr>
              <a:t>Exemplo: RSV Parcel das Feiticeiras (vence mai/26)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95959"/>
                </a:solidFill>
                <a:latin typeface="Arial"/>
              </a:rPr>
              <a:t>• Diária potencial: US$ 45k → US$ 80k (+78% receita do barco)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95959"/>
                </a:solidFill>
                <a:latin typeface="Arial"/>
              </a:rPr>
              <a:t>• EBITDA do barco: US$ 3,8M → US$ 15,3M/ano (+303%) — custo operacional fixo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95959"/>
                </a:solidFill>
                <a:latin typeface="Arial"/>
              </a:rPr>
              <a:t>• 7 contratos legados expiraram; 5 já em novas diárias (1T–2T26)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Pilar 3 — Valuation &amp; retorno ao acionista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EC8DC"/>
                </a:solidFill>
                <a:latin typeface="Arial"/>
              </a:rPr>
              <a:t>A mais descontada do setor com caixa visível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69748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EV/EBITDA 26E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2060"/>
                </a:solidFill>
                <a:latin typeface="Arial"/>
              </a:rPr>
              <a:t>3,7x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3,1x adj. claims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258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25880"/>
            <a:ext cx="269748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5087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P/E 26E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7830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2060"/>
                </a:solidFill>
                <a:latin typeface="Arial"/>
              </a:rPr>
              <a:t>7,2x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8600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5,3x adj. claims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325880"/>
            <a:ext cx="2697480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087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FCF yield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D7D31"/>
                </a:solidFill>
                <a:latin typeface="Arial"/>
              </a:rPr>
              <a:t>18,5%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2027E · 20% 2028E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3258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325880"/>
            <a:ext cx="2697480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5087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Div. acum. 3 anos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178308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D7D31"/>
                </a:solidFill>
                <a:latin typeface="Arial"/>
              </a:rPr>
              <a:t>~67%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28600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do mkt cap atual (est. MM)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971800"/>
            <a:ext cx="11155680" cy="2651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15468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060"/>
                </a:solidFill>
                <a:latin typeface="Arial"/>
              </a:rPr>
              <a:t>Claims judiciais (UP Offshore) — fora do balanço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Arial"/>
              </a:rPr>
              <a:t>• VP total atribuído à OPCT: ~R$ 513M ≈ 26% do market cap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Arial"/>
              </a:rPr>
              <a:t>• UP Coral: ~R$ 400M VP → dividend yield ~20% se distribuído integral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Arial"/>
              </a:rPr>
              <a:t>• Primeiro dividendo pós-IPO: R$ 19,3M (abr/26) — sinal de transição CAPEX → payout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Catalisador: fusão CBO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EC8DC"/>
                </a:solidFill>
                <a:latin typeface="Arial"/>
              </a:rPr>
              <a:t>Anunciada mar/2026 — 2º maior OSV do Brasil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2377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37744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Frota combinada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2060"/>
                </a:solidFill>
                <a:latin typeface="Arial"/>
              </a:rPr>
              <a:t>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45 CBO + 28 OPCT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1325880"/>
            <a:ext cx="2377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63240" y="1325880"/>
            <a:ext cx="2377440" cy="91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5087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Market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78308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8080"/>
                </a:solidFill>
                <a:latin typeface="Arial"/>
              </a:rPr>
              <a:t>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atrás só Bram Offshore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325880"/>
            <a:ext cx="2377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1325880"/>
            <a:ext cx="2377440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5087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Acionistas OPCT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78308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D7D31"/>
                </a:solidFill>
                <a:latin typeface="Arial"/>
              </a:rPr>
              <a:t>42%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2860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da empresa combinada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1325880"/>
            <a:ext cx="2377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1325880"/>
            <a:ext cx="2377440" cy="914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5087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Sinergias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78308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48235"/>
                </a:solidFill>
                <a:latin typeface="Arial"/>
              </a:rPr>
              <a:t>R$ 100M+/ano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860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captura plena em 2 anos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44200" y="1325880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744200" y="1325880"/>
            <a:ext cx="1371600" cy="914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0" y="1508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Aprovação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1783080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95959"/>
                </a:solidFill>
                <a:latin typeface="Arial"/>
              </a:rPr>
              <a:t>2T–3T26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22860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CADE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2926080"/>
            <a:ext cx="111556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</a:pPr>
            <a:r>
              <a:rPr sz="1300" b="0">
                <a:solidFill>
                  <a:srgbClr val="595959"/>
                </a:solidFill>
                <a:latin typeface="Arial"/>
              </a:rPr>
              <a:t>→ Claims judiciais preservados para acionistas atuais (ação preferencial 1 centavo)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95959"/>
                </a:solidFill>
                <a:latin typeface="Arial"/>
              </a:rPr>
              <a:t>→ Dívida CBO mais barata (FMM 5,8% vs OPCT 7,5%) → lucro por ação maior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95959"/>
                </a:solidFill>
                <a:latin typeface="Arial"/>
              </a:rPr>
              <a:t>→ Sinergias: ICMS estaleiro Niterói · downtime 9%→6% · compras · trocas de frota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95959"/>
                </a:solidFill>
                <a:latin typeface="Arial"/>
              </a:rPr>
              <a:t>→ Opcionalidade: dupla listagem Oslo → múltiplo alinhado aos pares nórdicos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Upside de repricing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EC8DC"/>
                </a:solidFill>
                <a:latin typeface="Arial"/>
              </a:rPr>
              <a:t>Comparável: Tidewater pagou 4,4x EV/EBITDA na Wilson Sons Ultratug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520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060"/>
                </a:solidFill>
                <a:latin typeface="Arial"/>
              </a:rPr>
              <a:t>Múltiplo WSUT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548235"/>
                </a:solidFill>
                <a:latin typeface="Arial"/>
              </a:rPr>
              <a:t>+30%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4,4x EV/EBITDA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520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060"/>
                </a:solidFill>
                <a:latin typeface="Arial"/>
              </a:rPr>
              <a:t>Média setorial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548235"/>
                </a:solidFill>
                <a:latin typeface="Arial"/>
              </a:rPr>
              <a:t>+116%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01752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maior crescimento contratado + BR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3520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060"/>
                </a:solidFill>
                <a:latin typeface="Arial"/>
              </a:rPr>
              <a:t>Empresa de dono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03120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D7D31"/>
                </a:solidFill>
                <a:latin typeface="Arial"/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1752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capital em mãos de executivos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377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060"/>
                </a:solidFill>
                <a:latin typeface="Arial"/>
              </a:rPr>
              <a:t>Disciplina de capital: perdeu leilão RSV 4T24 por preço — reconquistou contratos com diárias ~60% maiores meses depois.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Riscos principais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EC8DC"/>
                </a:solidFill>
                <a:latin typeface="Arial"/>
              </a:rPr>
              <a:t>O que monitorar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5568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35607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0000"/>
                </a:solidFill>
                <a:latin typeface="Arial"/>
              </a:rPr>
              <a:t>Capital intensity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435607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Docagens, CAPEX, alocação errada → FCF abaixo do esperado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111556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9572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0000"/>
                </a:solidFill>
                <a:latin typeface="Arial"/>
              </a:rPr>
              <a:t>Petrobras 57%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95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Concentração de cliente — cronograma e condições comerciais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46120"/>
            <a:ext cx="1115568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5584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0000"/>
                </a:solidFill>
                <a:latin typeface="Arial"/>
              </a:rPr>
              <a:t>Fusão CBO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3558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Integração, sinergias, aprovação CADE (RSV &gt;20% share)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06240"/>
            <a:ext cx="111556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1596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0000"/>
                </a:solidFill>
                <a:latin typeface="Arial"/>
              </a:rPr>
              <a:t>Ciclo óleo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31596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Preço Brent, capex Petrobras, E&amp;P discricionário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166360"/>
            <a:ext cx="1115568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27608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0000"/>
                </a:solidFill>
                <a:latin typeface="Arial"/>
              </a:rPr>
              <a:t>Overhang 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27608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Vinci/Patria ~44% — saída se Oslo não ocorrer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Conclusão — por que 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EC8DC"/>
                </a:solidFill>
                <a:latin typeface="Arial"/>
              </a:rPr>
              <a:t>Uma das maiores convicções do Market Makers FIA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55680" cy="4114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48235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rial"/>
              </a:rPr>
              <a:t>Escassez estrutural de OSV + cabotagem = barreira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48235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860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rial"/>
              </a:rPr>
              <a:t>EBITDA contratado crescendo 56% em 2 anos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48235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718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rial"/>
              </a:rPr>
              <a:t>Caixa operacional + claims → payout robusto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48235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6576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rial"/>
              </a:rPr>
              <a:t>Múltiplo mais baixo do setor 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48235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3434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rial"/>
              </a:rPr>
              <a:t>Fusão CBO fortalece escala sem diluir claims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778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Fonte: Market Makers FIA — OceanPact: Vai faltar barco! (maio/2026). Material educativo; não é recomendação de investimento. Ver disclaimer no relatório original.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