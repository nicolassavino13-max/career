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3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49240"/>
            <a:ext cx="12188952" cy="1508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OceanPact (OPCT3)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06040"/>
            <a:ext cx="1051560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000" b="1">
                <a:solidFill>
                  <a:srgbClr val="ED7D31"/>
                </a:solidFill>
                <a:latin typeface="Arial"/>
              </a:rPr>
              <a:t>Vai faltar barco!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532120"/>
            <a:ext cx="100584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  <a:latin typeface="Arial"/>
              </a:rPr>
              <a:t>Market Makers FIA  ·  Tese de investimento  · 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Escassez de OSVs, diárias em alta e múltiplo descontado posicionam a OceanPact como forte pagadora de dividendos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Tese Market Makers FIA — maio/2026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Market Makers FIA; estimativas da casa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61872"/>
            <a:ext cx="1097280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A Petrobras retoma capex offshore enquanto a oferta global de OSVs permanece estruturalmente comprimida. A OceanPact combina diárias reprecificadas, claims judiciais e o menor múltiplo do setor.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645920"/>
            <a:ext cx="5349240" cy="18745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49377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CAPEX Petrobras 26–30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4937760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008080"/>
                </a:solidFill>
                <a:latin typeface="Arial"/>
              </a:rPr>
              <a:t>US$ 109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Plano ancora demanda doméstica por década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645920"/>
            <a:ext cx="5349240" cy="1874519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28800"/>
            <a:ext cx="49377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Diárias PSV BR (21→25)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40280"/>
            <a:ext cx="4937760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ED7D31"/>
                </a:solidFill>
                <a:latin typeface="Arial"/>
              </a:rPr>
              <a:t>+119%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71800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Reprecificação contratual ainda em curso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5349240" cy="1874519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49377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EV/EBITDA 26E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4937760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002060"/>
                </a:solidFill>
                <a:latin typeface="Arial"/>
              </a:rPr>
              <a:t>3,7x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Menor múltiplo entre pares listados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703320"/>
            <a:ext cx="5349240" cy="1874519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886200"/>
            <a:ext cx="49377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Div. acum. 3 anos (est.)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297680"/>
            <a:ext cx="4937760" cy="685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000" b="1">
                <a:solidFill>
                  <a:srgbClr val="ED7D31"/>
                </a:solidFill>
                <a:latin typeface="Arial"/>
              </a:rPr>
              <a:t>~67%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029200"/>
            <a:ext cx="4937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Alta conversão de EBITDA em dividendos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Três pilares estruturam por que a OceanPact é a melhor porta de entrada no ciclo offshore brasileiro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00200"/>
            <a:ext cx="502920" cy="38404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Arial"/>
              </a:rPr>
              <a:t>Escassez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31720"/>
            <a:ext cx="274320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Oferta global comprimida; frota envelhecendo
Zero AHTS grande em obra no mundo
Demanda Petrobras US$ 109 bi 2026–30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600200"/>
            <a:ext cx="502920" cy="3840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008080"/>
                </a:solidFill>
                <a:latin typeface="Arial"/>
              </a:rPr>
              <a:t>Alavancagem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331720"/>
            <a:ext cx="274320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Diárias reprecificadas em contratos longos
EBITDA dispara com receita incremental
Cobertura de dívida ~88% pós-reprecificação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1600200"/>
            <a:ext cx="352044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00200"/>
            <a:ext cx="502920" cy="3840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880360"/>
            <a:ext cx="36576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828800"/>
            <a:ext cx="27432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Arial"/>
              </a:rPr>
              <a:t>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2331720"/>
            <a:ext cx="274320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3,7x EV/EBITDA — desconto vs. pares
Claims judiciais R$ 513M VP (~26% mkt cap)
Fusão CBO sem diluir UP Coral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boom de 2010–14 destruiu frota e crédito; a virada de 2021–26 recria escassez estrutural de OSVs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Índice de diárias PSV grandes — Brasil (2014=100)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ABEAM; Clarksons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22714"/>
            <a:ext cx="1840230" cy="1306285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74720"/>
            <a:ext cx="18402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02674"/>
            <a:ext cx="18402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3190" y="3063240"/>
            <a:ext cx="1840230" cy="3657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63190" y="3474720"/>
            <a:ext cx="18402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63190" y="2743200"/>
            <a:ext cx="18402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Arial"/>
              </a:rPr>
              <a:t>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0580" y="2841171"/>
            <a:ext cx="1840230" cy="58782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0580" y="3474720"/>
            <a:ext cx="18402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0580" y="2521131"/>
            <a:ext cx="18402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17970" y="1874519"/>
            <a:ext cx="1840230" cy="1554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7970" y="3474720"/>
            <a:ext cx="18402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7970" y="1554479"/>
            <a:ext cx="18402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119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92024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148840"/>
            <a:ext cx="237744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ED7D31"/>
                </a:solidFill>
                <a:latin typeface="Arial"/>
              </a:rPr>
              <a:t>+119%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971800"/>
            <a:ext cx="237744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Diárias praticamente
dobraram em 2 anos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114800"/>
            <a:ext cx="3291840" cy="1325880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224528"/>
            <a:ext cx="30175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2010–14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498848"/>
            <a:ext cx="301752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Boom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892040"/>
            <a:ext cx="301752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500+ barcos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023360" y="4617720"/>
            <a:ext cx="274320" cy="320040"/>
          </a:xfrm>
          <a:prstGeom prst="rightArrow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4114800"/>
            <a:ext cx="3291840" cy="13258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53128" y="4224528"/>
            <a:ext cx="30175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2015–20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53128" y="4498848"/>
            <a:ext cx="301752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4892040"/>
            <a:ext cx="301752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−60–80%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680960" y="4617720"/>
            <a:ext cx="274320" cy="320040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4114800"/>
            <a:ext cx="3291840" cy="13258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0727" y="4224528"/>
            <a:ext cx="30175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2021–26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0727" y="4498848"/>
            <a:ext cx="301752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Virada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0727" y="4892040"/>
            <a:ext cx="301752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~2x diárias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074920"/>
            <a:ext cx="105156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Boom: frota global +500 navios; diárias no pico histórico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367528"/>
            <a:ext cx="105156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Crise: quebra de produtores; estaleiros fecharam filas de pedido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660136"/>
            <a:ext cx="105156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Virada: oferta não acompanha retomada do capex brasileiro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Porém, oferta nova só chega em 2028+ — e diárias atuais ainda não justificam construir navio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TIR da construção de PSV vs WACC do setor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Estimativas Market Makers; Clarksons  |  Diária mín. VPL&gt;0: ~US$ 45k (+12,5% vs. atual)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68496"/>
            <a:ext cx="1584960" cy="51206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15849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TIR PSV
novo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15849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62199" y="3740912"/>
            <a:ext cx="1584960" cy="73964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62199" y="4526280"/>
            <a:ext cx="15849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WACC
setor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199" y="3420872"/>
            <a:ext cx="15849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Arial"/>
              </a:rPr>
              <a:t>13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4320" y="1920240"/>
            <a:ext cx="1584960" cy="2560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4320" y="4526280"/>
            <a:ext cx="15849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Diária mín.
VPL&gt;0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4320" y="1600200"/>
            <a:ext cx="15849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1920240"/>
            <a:ext cx="45720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148840"/>
            <a:ext cx="429768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ED7D31"/>
                </a:solidFill>
                <a:latin typeface="Arial"/>
              </a:rPr>
              <a:t>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971800"/>
            <a:ext cx="429768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TIR atual — abaixo
do custo de capital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0520"/>
            <a:ext cx="484632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CEO racional não encomenda com TIR &lt; WACC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71416"/>
            <a:ext cx="484632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Estaleiros sem fila: pedidos globais PSV &lt;50 vs 250+ no boom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782312"/>
            <a:ext cx="484632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Entrega de navio novo só a partir de 2028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1737360"/>
            <a:ext cx="5623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84708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Pedidos globais PSV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1874519"/>
            <a:ext cx="109728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1938528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Alto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1828800"/>
            <a:ext cx="182880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&lt;50 vs 250+
Fila estaleiro vazia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2606039"/>
            <a:ext cx="5623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71576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AHTS grande em obra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2743199"/>
            <a:ext cx="109728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2807208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Crítico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2697479"/>
            <a:ext cx="182880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Zero no mundo
Escassez extrema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3474720"/>
            <a:ext cx="5623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358444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Idade média frota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3611879"/>
            <a:ext cx="109728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0" y="3675887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Alto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3566160"/>
            <a:ext cx="182880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13a → 17a
Mais paradas técnicas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89320" y="4343400"/>
            <a:ext cx="56235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4453128"/>
            <a:ext cx="22860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1">
                <a:solidFill>
                  <a:srgbClr val="002060"/>
                </a:solidFill>
                <a:latin typeface="Arial"/>
              </a:rPr>
              <a:t>Entrega navio novo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4480560"/>
            <a:ext cx="109728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0" y="4544568"/>
            <a:ext cx="10972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Crítico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4434840"/>
            <a:ext cx="182880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2028+
Janela de escassez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capex de US$ 109 bi da Petrobras 2026–30 ancora demanda por OSVs no Brasil por uma década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Plano Estratégico 2026–30 — composição do CAPEX (US$ bi)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Petrobras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107899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CAPEX total US$ 109 bi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7721227" cy="7772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720339"/>
            <a:ext cx="7574923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E&amp;P US$ 78 bi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7027" y="2514600"/>
            <a:ext cx="1009698" cy="7772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0179" y="2720339"/>
            <a:ext cx="863394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Descom. US$ 10,2 bi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6726" y="2514600"/>
            <a:ext cx="2058993" cy="7772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9878" y="2720339"/>
            <a:ext cx="1912689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Outros US$ 20,8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737360"/>
            <a:ext cx="1005840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Arial"/>
              </a:rPr>
              <a:t>19 FPSOs → demanda estimada de 30+ embarcações adicionais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793932"/>
            <a:ext cx="2594610" cy="23526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749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FPSOs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473892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19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7570" y="4657725"/>
            <a:ext cx="2594610" cy="3714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7570" y="50749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Navios+
(est.)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7570" y="4337685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4979670"/>
            <a:ext cx="2594610" cy="4953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9340" y="50749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Contrato
(anos)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9340" y="4659630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81110" y="3840480"/>
            <a:ext cx="2594610" cy="1188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1110" y="5074920"/>
            <a:ext cx="259461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Frota BR
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1110" y="3520440"/>
            <a:ext cx="259461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92040"/>
            <a:ext cx="105156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19 FPSOs no plano implicam ~30 navios de apoio adicionais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184648"/>
            <a:ext cx="105156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Contratos típicos de 4 anos travam diárias mesmo se spot cair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477255"/>
            <a:ext cx="105156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Cabotagem: 96% da frota OPCT no Brasil — barreira regulatória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A OceanPact é uma plataforma offshore integrada — o barco é só parte da solução operacional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Mix de receita e ativos — 1T26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OceanPact; Market Makers FIA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08760"/>
            <a:ext cx="107899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Segmentos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934456" cy="64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965960"/>
            <a:ext cx="5788152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Embarcações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0256" y="1828800"/>
            <a:ext cx="4855464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965960"/>
            <a:ext cx="4709160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Serviços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788920"/>
            <a:ext cx="52120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98648"/>
            <a:ext cx="493776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Frota operacional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00400"/>
            <a:ext cx="493776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002060"/>
                </a:solidFill>
                <a:latin typeface="Arial"/>
              </a:rPr>
              <a:t>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49377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embarcações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2788920"/>
            <a:ext cx="52120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898648"/>
            <a:ext cx="493776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ROVs work 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00400"/>
            <a:ext cx="493776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008080"/>
                </a:solidFill>
                <a:latin typeface="Arial"/>
              </a:rP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703320"/>
            <a:ext cx="49377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unidades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206240"/>
            <a:ext cx="52120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15968"/>
            <a:ext cx="493776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Receita Petrobras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17720"/>
            <a:ext cx="493776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ED7D31"/>
                </a:solidFill>
                <a:latin typeface="Arial"/>
              </a:rPr>
              <a:t>53%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120640"/>
            <a:ext cx="49377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do total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206240"/>
            <a:ext cx="52120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315968"/>
            <a:ext cx="493776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RSV/OSRV mix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617720"/>
            <a:ext cx="493776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600" b="1">
                <a:solidFill>
                  <a:srgbClr val="548235"/>
                </a:solidFill>
                <a:latin typeface="Arial"/>
              </a:rPr>
              <a:t>Alta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5120640"/>
            <a:ext cx="49377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recorrência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92040"/>
            <a:ext cx="105156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Petrobras ~57% da receita — relação de longo prazo, mas concentração a monitorar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184648"/>
            <a:ext cx="105156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RSV/OSRV mais recorrente que PSV puro; ROVs elevam ticket médio por contrato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77255"/>
            <a:ext cx="105156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Serviços (45% receita) reduzem dependência de ciclo spot de diárias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Reprecificação de contratos faz receita incremental alavancar o EBITDA de forma desproporcional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Ponte EBITDA — reprecificação RSV (exemplo Feiticeiras)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 1T26; estimativas Market Makers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" y="3680459"/>
            <a:ext cx="1568196" cy="5257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387851"/>
            <a:ext cx="15681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595959"/>
                </a:solidFill>
                <a:latin typeface="Arial"/>
              </a:rPr>
              <a:t>US$ 3,8M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251959"/>
            <a:ext cx="15681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EBITDA
legado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3452" y="3228289"/>
            <a:ext cx="1568196" cy="94640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3452" y="2935681"/>
            <a:ext cx="15681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008080"/>
                </a:solidFill>
                <a:latin typeface="Arial"/>
              </a:rPr>
              <a:t>+78%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3452" y="4251959"/>
            <a:ext cx="15681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Nova
diária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7952" y="3407054"/>
            <a:ext cx="1568196" cy="7360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3114446"/>
            <a:ext cx="15681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Arial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87952" y="4251959"/>
            <a:ext cx="15681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Margem
incremental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02452" y="2954883"/>
            <a:ext cx="1568196" cy="115671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02452" y="2662275"/>
            <a:ext cx="1568196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>
                <a:solidFill>
                  <a:srgbClr val="002060"/>
                </a:solidFill>
                <a:latin typeface="Arial"/>
              </a:rPr>
              <a:t>US$ 15,3M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2452" y="4251959"/>
            <a:ext cx="1568196" cy="3657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EBITDA
novo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1920240"/>
            <a:ext cx="3749039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2148840"/>
            <a:ext cx="347472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ED7D31"/>
                </a:solidFill>
                <a:latin typeface="Arial"/>
              </a:rPr>
              <a:t>+303%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2971800"/>
            <a:ext cx="347472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EBITDA do barco
(Feiticeiras)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160520"/>
            <a:ext cx="658368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Reprecificação RSV: diária +78% com custo fixo estável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71416"/>
            <a:ext cx="658368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Receita +8% no consolidado → EBITDA +30% no 1T26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82312"/>
            <a:ext cx="658368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Contratos longos travam diária até 2030 — visibilidade de caixa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232861"/>
            <a:ext cx="2194560" cy="2493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303520"/>
            <a:ext cx="2194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Rec.+8%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912821"/>
            <a:ext cx="2194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5164281"/>
            <a:ext cx="2194560" cy="9351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5303520"/>
            <a:ext cx="2194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EBITDA+30%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844241"/>
            <a:ext cx="2194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4983480"/>
            <a:ext cx="219456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5303520"/>
            <a:ext cx="2194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Cob.88%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4663440"/>
            <a:ext cx="2194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Negociada a 3,7x EV/EBITDA, a OceanPact é a mais descontada do setor com caixa e claims visíveis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EV/EBITDA 26E — OceanPact vs referências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Market Makers FIA  |  Ajuste exclui claims não operacionais de R$ 513M VP (~26% mkt cap)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356457"/>
            <a:ext cx="1725930" cy="139842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00600"/>
            <a:ext cx="17259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OPCT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36417"/>
            <a:ext cx="17259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ED7D31"/>
                </a:solidFill>
                <a:latin typeface="Arial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8890" y="3583228"/>
            <a:ext cx="1725930" cy="1171651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8890" y="4800600"/>
            <a:ext cx="17259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OPCT
adj.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8890" y="3263188"/>
            <a:ext cx="17259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1980" y="3091891"/>
            <a:ext cx="1725930" cy="166298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1980" y="4800600"/>
            <a:ext cx="17259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WSUT
deal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1980" y="2771851"/>
            <a:ext cx="17259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5070" y="1920240"/>
            <a:ext cx="1725930" cy="28346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5070" y="4800600"/>
            <a:ext cx="172593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Média
setor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5070" y="1600200"/>
            <a:ext cx="172593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920240"/>
            <a:ext cx="32004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148840"/>
            <a:ext cx="292608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002060"/>
                </a:solidFill>
                <a:latin typeface="Arial"/>
              </a:rPr>
              <a:t>3,7x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971800"/>
            <a:ext cx="292608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EV/EBITDA 26E
mais descontado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34840"/>
            <a:ext cx="731520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OPCT adj. 3,1x após claims — ainda abaixo do deal WSUT (4,4x)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45736"/>
            <a:ext cx="731520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Média setorial 7,5x — gap de repricing se ciclo se mantém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56631"/>
            <a:ext cx="731520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FCF yield elevado + caixa líquido sustentam dividendos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Fusão com a CBO cria o 2º maior OSV do Brasil sem diluir claims judiciais aos acionistas atuais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Escala da frota — antes e depois da combinação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OceanPact; Gradus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59060"/>
            <a:ext cx="1432560" cy="108725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892040"/>
            <a:ext cx="1432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OPCT
(28)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439020"/>
            <a:ext cx="1432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41320" y="3098939"/>
            <a:ext cx="1432560" cy="17473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1320" y="4892040"/>
            <a:ext cx="1432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CBO
(45)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1320" y="2778899"/>
            <a:ext cx="1432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45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11040" y="2011680"/>
            <a:ext cx="1432560" cy="28346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1040" y="4892040"/>
            <a:ext cx="143256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Combinada
(73)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1040" y="1691640"/>
            <a:ext cx="143256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73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217920" y="3246120"/>
            <a:ext cx="54864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828800"/>
            <a:ext cx="4572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1938528"/>
            <a:ext cx="42976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Market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267712"/>
            <a:ext cx="429768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Arial"/>
              </a:rPr>
              <a:t>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2971800"/>
            <a:ext cx="4572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3081528"/>
            <a:ext cx="42976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Sinergias/ano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410712"/>
            <a:ext cx="429768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ED7D31"/>
                </a:solidFill>
                <a:latin typeface="Arial"/>
              </a:rPr>
              <a:t>R$ 100M+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0880" y="4114800"/>
            <a:ext cx="457200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4224528"/>
            <a:ext cx="429768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Acionistas OPCT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553712"/>
            <a:ext cx="429768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2800" b="1">
                <a:solidFill>
                  <a:srgbClr val="002060"/>
                </a:solidFill>
                <a:latin typeface="Arial"/>
              </a:rPr>
              <a:t>42%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892040"/>
            <a:ext cx="54864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Ação preferencial preserva UP Coral — claims não diluídos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184648"/>
            <a:ext cx="54864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Dívida FMM ~5,8% a.a.; sinergias R$ 100M+ financiam integração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77255"/>
            <a:ext cx="54864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42% da combinada para acionistas OPCT — alinhamento mantido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Só para igualar o múltiplo da WSUT, a OceanPact teria ~30% de upside; na média setorial, ~116%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Upside de repricing — cenários de múltiplo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8064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Fonte: Tidewater; estimativas Market Makers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111646"/>
            <a:ext cx="4046220" cy="780393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937760"/>
            <a:ext cx="404622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WSUT
benchmark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791606"/>
            <a:ext cx="40462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8080"/>
                </a:solidFill>
                <a:latin typeface="Arial"/>
              </a:rPr>
              <a:t>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2180" y="1874520"/>
            <a:ext cx="4046220" cy="30175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2180" y="4937760"/>
            <a:ext cx="4046220" cy="4114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Média
setorial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2180" y="1554480"/>
            <a:ext cx="404622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100" b="1">
                <a:solidFill>
                  <a:srgbClr val="002060"/>
                </a:solidFill>
                <a:latin typeface="Arial"/>
              </a:rPr>
              <a:t>116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920240"/>
            <a:ext cx="274320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148840"/>
            <a:ext cx="246888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4400" b="1">
                <a:solidFill>
                  <a:srgbClr val="002060"/>
                </a:solidFill>
                <a:latin typeface="Arial"/>
              </a:rPr>
              <a:t>+116%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971800"/>
            <a:ext cx="2468880" cy="7315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0">
                <a:solidFill>
                  <a:srgbClr val="595959"/>
                </a:solidFill>
                <a:latin typeface="Arial"/>
              </a:rPr>
              <a:t>Upside vs.
média setorial 7,5x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777240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+30% para igualar múltiplo WSUT — Tidewater pagou 4,4x no deal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45736"/>
            <a:ext cx="777240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OPCT negocia a 3,7x com mesma visibilidade de contratos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56631"/>
            <a:ext cx="7772400" cy="356616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Disciplina: perdeu leilão RSV 4T24; reconquistou com diárias ~60% maiores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663440"/>
            <a:ext cx="10789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18888"/>
            <a:ext cx="1042416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Arial"/>
              </a:rPr>
              <a:t>Benchmark WSUT: +30% de upside só para fechar gap com múltiplo pago pela Tidewater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Concentração na Petrobras e integração CBO são os principais riscos a monitorar na tese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Matriz de riscos — impacto vs probabilidade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5440680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10512"/>
            <a:ext cx="5349240" cy="518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Impacto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737360"/>
            <a:ext cx="5440680" cy="609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810512"/>
            <a:ext cx="5349240" cy="518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Prob.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346960"/>
            <a:ext cx="7616952" cy="609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401824"/>
            <a:ext cx="7072884" cy="518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Capital intensity
Monitorar: capex ROV vs geração de caixa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11312" y="2346960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2420112"/>
            <a:ext cx="1540764" cy="49987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3516" y="2346960"/>
            <a:ext cx="1632204" cy="60960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89236" y="2420112"/>
            <a:ext cx="1540764" cy="49987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956560"/>
            <a:ext cx="7616952" cy="609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11424"/>
            <a:ext cx="7072884" cy="518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Petrobras 57%
Monitorar: renovação contratos e mix RSV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11312" y="2956560"/>
            <a:ext cx="1632204" cy="60960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3029712"/>
            <a:ext cx="1540764" cy="49987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43516" y="2956560"/>
            <a:ext cx="1632204" cy="609600"/>
          </a:xfrm>
          <a:prstGeom prst="rect">
            <a:avLst/>
          </a:prstGeom>
          <a:solidFill>
            <a:srgbClr val="FF9696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89236" y="3029712"/>
            <a:ext cx="1540764" cy="49987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566160"/>
            <a:ext cx="7616952" cy="609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621024"/>
            <a:ext cx="7072884" cy="518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Fusão CBO
Monitorar: sinergias e alavancagem pós-deal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11312" y="3566160"/>
            <a:ext cx="1632204" cy="609600"/>
          </a:xfrm>
          <a:prstGeom prst="rect">
            <a:avLst/>
          </a:prstGeom>
          <a:solidFill>
            <a:srgbClr val="FFC7C7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57032" y="3639312"/>
            <a:ext cx="1540764" cy="49987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Alto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43516" y="3566160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89236" y="3639312"/>
            <a:ext cx="1540764" cy="49987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175760"/>
            <a:ext cx="7616952" cy="609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4230623"/>
            <a:ext cx="7072884" cy="518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Ciclo óleo
Monitorar: capex Petrobras se Brent cair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11312" y="4175760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2" y="4248912"/>
            <a:ext cx="1540764" cy="49987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43516" y="4175760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89236" y="4248912"/>
            <a:ext cx="1540764" cy="49987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4785359"/>
            <a:ext cx="7616952" cy="609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4840223"/>
            <a:ext cx="7072884" cy="5181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900" b="1">
                <a:solidFill>
                  <a:srgbClr val="002060"/>
                </a:solidFill>
                <a:latin typeface="Arial"/>
              </a:rPr>
              <a:t>Overhang PE
Monitorar: saída Gradus e liquidez B3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11312" y="4785359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57032" y="4858511"/>
            <a:ext cx="1540764" cy="49987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43516" y="4785359"/>
            <a:ext cx="1632204" cy="609600"/>
          </a:xfrm>
          <a:prstGeom prst="rect">
            <a:avLst/>
          </a:prstGeom>
          <a:solidFill>
            <a:srgbClr val="FFF2CC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89236" y="4858511"/>
            <a:ext cx="1540764" cy="499871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Médio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074920"/>
            <a:ext cx="105156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Nenhum risco invalida tese — exigem disciplina de preço e execução CBO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367528"/>
            <a:ext cx="10515600" cy="338328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• Petrobras + CBO concentram ~70% do risco operacional da história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35024"/>
            <a:ext cx="1115568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89888"/>
            <a:ext cx="11384280" cy="4343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587044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595959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500" b="0">
                <a:solidFill>
                  <a:srgbClr val="002060"/>
                </a:solidFill>
                <a:latin typeface="Arial"/>
              </a:rPr>
              <a:t>O offshore brasileiro mudou estruturalmente — OceanPact oferece a melhor relação risco-retorno local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155680" cy="347472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400" b="0">
                <a:solidFill>
                  <a:srgbClr val="595959"/>
                </a:solidFill>
                <a:latin typeface="Arial"/>
              </a:rPr>
              <a:t>Conclusão — convicção Market Makers 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3200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Escassez + cabotagem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810512"/>
            <a:ext cx="713232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1810512"/>
            <a:ext cx="6775704" cy="3474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92840" y="1783080"/>
            <a:ext cx="4572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2060"/>
                </a:solidFill>
                <a:latin typeface="Arial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176272"/>
            <a:ext cx="777240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Oferta comprimida; 96% frota no Brasil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96311"/>
            <a:ext cx="3200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EBITDA contratado 88%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523744"/>
            <a:ext cx="713232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0" y="2523744"/>
            <a:ext cx="6276441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92840" y="2496311"/>
            <a:ext cx="4572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8080"/>
                </a:solidFill>
                <a:latin typeface="Arial"/>
              </a:rPr>
              <a:t>88%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889503"/>
            <a:ext cx="777240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Receita visível em contratos longos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09544"/>
            <a:ext cx="3200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Caixa +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3236976"/>
            <a:ext cx="713232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60" y="3236976"/>
            <a:ext cx="6419088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292840" y="3209544"/>
            <a:ext cx="4572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ED7D31"/>
                </a:solidFill>
                <a:latin typeface="Arial"/>
              </a:rPr>
              <a:t>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602736"/>
            <a:ext cx="777240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R$ 513M VP + geração operacional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22776"/>
            <a:ext cx="3200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Múltiplo descontado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3950208"/>
            <a:ext cx="713232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23360" y="3950208"/>
            <a:ext cx="6062472" cy="3474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292840" y="3922776"/>
            <a:ext cx="4572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2060"/>
                </a:solidFill>
                <a:latin typeface="Arial"/>
              </a:rPr>
              <a:t>85%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4315968"/>
            <a:ext cx="777240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3,7x vs 7,5x média setorial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636007"/>
            <a:ext cx="32004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1">
                <a:solidFill>
                  <a:srgbClr val="002060"/>
                </a:solidFill>
                <a:latin typeface="Arial"/>
              </a:rPr>
              <a:t>Fusão CBO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4663440"/>
            <a:ext cx="7132320" cy="347472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60" y="4663440"/>
            <a:ext cx="5705856" cy="34747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92840" y="4636007"/>
            <a:ext cx="457200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r"/>
            <a:r>
              <a:rPr sz="1100" b="1">
                <a:solidFill>
                  <a:srgbClr val="008080"/>
                </a:solidFill>
                <a:latin typeface="Arial"/>
              </a:rPr>
              <a:t>80%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5029200"/>
            <a:ext cx="7772400" cy="2560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Escala sem diluir claims judiciais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596128"/>
            <a:ext cx="11155680" cy="502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Arial"/>
              </a:rPr>
              <a:t>Material educativo — Market Makers FIA (mai/2026). Não constitui recomendação de investimento.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