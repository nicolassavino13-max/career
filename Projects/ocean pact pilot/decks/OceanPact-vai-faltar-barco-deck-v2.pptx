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OceanPact (OPCT3)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ED7D31"/>
                </a:solidFill>
                <a:latin typeface="Arial"/>
              </a:rPr>
              <a:t>Vai faltar barco!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8D2E6"/>
                </a:solidFill>
                <a:latin typeface="Arial"/>
              </a:rPr>
              <a:t>Market Makers FIA  ·  Tese de investimento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Escassez de OSVs, diárias em alta e múltiplo descontado posicionam a OceanPact como forte pagadora de dividendos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Tese Market Makers FIA — maio/2026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FIA; estimativas da casa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CAPEX Petrobras 26–30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US$ 109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Diárias PSV BR (21→25)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+119%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Arial"/>
              </a:rPr>
              <a:t>3,7x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Div. acum. 3 anos (est.)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Arial"/>
              </a:rPr>
              <a:t>~67% mkt 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Três pilares estruturam por que a OceanPact é a melhor porta de entrada no ciclo offshore brasileiro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352044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Escassez de embarcações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Oferta comprimida + demanda Petrobras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00200"/>
            <a:ext cx="352044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Alavancagem operacional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Diárias reprecificadas → EBITDA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00200"/>
            <a:ext cx="3520440" cy="2011680"/>
          </a:xfrm>
          <a:prstGeom prst="rect">
            <a:avLst/>
          </a:prstGeom>
          <a:solidFill>
            <a:srgbClr val="F5F7FA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4884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2060"/>
                </a:solidFill>
                <a:latin typeface="Arial"/>
              </a:rPr>
              <a:t>Valuation e caixa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Múltiplo + claims + fusão CBO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boom de 2010–14 destruiu frota e crédito; a virada de 2021–26 recria escassez estrutural de OSVs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Evolução do setor de apoio offshore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ABEAM; Clarksons Research; análise Market 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520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520440" cy="5029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2010–14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Boom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Arial"/>
              </a:rPr>
              <a:t>500+ barcos 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520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52044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2015–20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Crise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Arial"/>
              </a:rPr>
              <a:t>Diárias −60–80%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3520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91640"/>
            <a:ext cx="352044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2021–26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Virada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95959"/>
                </a:solidFill>
                <a:latin typeface="Arial"/>
              </a:rPr>
              <a:t>Diárias ~2x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Porém, oferta nova de embarcações só chega em 2028+ — e diárias atuais ainda não justificam construir navio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Retorno de novo PSV vs WACC ~13%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Estimativas Market Makers; Clarksons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Carteira global &lt;50 PSVs grandes em pedido (vs 250+ no pico)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Zero AHTS grande em construção no mundo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Frota envelhecida: média 13 anos → 17 em 2030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Diária US$ 40k → TIR ~9% na construção — abaixo do custo de capital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420624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D7D31"/>
                </a:solidFill>
                <a:latin typeface="Arial"/>
              </a:rPr>
              <a:t>Vai faltar barco</a:t>
            </a:r>
          </a:p>
          <a:p>
            <a:r>
              <a:rPr sz="1200" b="0">
                <a:solidFill>
                  <a:srgbClr val="595959"/>
                </a:solidFill>
                <a:latin typeface="Arial"/>
              </a:rPr>
              <a:t>Oferta efetiva cai mesmo com demanda estável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capex de US$ 109 bi da Petrobras 2026–30 ancora demanda por OSVs no Brasil por uma década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Plano Estratégico — E&amp;P e descomissionamento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Petrobras; análise Market 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73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E&amp;P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US$ 78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04872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19 FPSOs → ~30+ navios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08760"/>
            <a:ext cx="2697480" cy="73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Descomissionamento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US$ 10,2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404872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RSV/AHTS/OSRV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08760"/>
            <a:ext cx="2697480" cy="73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Contratos 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4 anos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04872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vs spot no Mar do Norte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2697480" cy="73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Cabotagem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96% frota 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404872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95959"/>
                </a:solidFill>
                <a:latin typeface="Arial"/>
              </a:rPr>
              <a:t>barreira regulatória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A OceanPact é uma plataforma offshore integrada — o barco é só parte da solução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Serviços marítimos + ambientais desde 2007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Market Makers 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1556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23 embarcações operacionais (1T26) · 11 ROVs work class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53% receita Petrobras — risco e barreira de entrada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Mix RSV/OSRV → manutenção recorrente, menos exploratório puro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3 motores: diária × utilização · serviços técnicos · frota + ROV integrado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Reprecificação de contratos faz receita incremental alavancar o EBITDA de forma desproporcional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Receita +8% a/a vs EBITDA ajustado +30% no 1T26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 1T26; estimativas Market 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EBITDA 25→26E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+39%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Cobertura 26E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Salto RSV médio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+60%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Feiticeiras (ex.)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EBITDA +303%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63240"/>
            <a:ext cx="111556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5 de 7 contratos legados já em novas diárias (1T–2T26)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Preços travados por 4 anos — até 2030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Negociada a 3,7x EV/EBITDA, a OceanPact é a mais descontada do setor com caixa e claims visíveis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Múltiplos 26E — ajuste por ativos judiciais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FIA; OceanPact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697480" cy="73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EV/EBITDA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3,7x (3,1x adj.)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2697480" cy="7315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P/E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2060"/>
                </a:solidFill>
                <a:latin typeface="Arial"/>
              </a:rPr>
              <a:t>7,2x (5,3x adj.)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FCF yield 27E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Arial"/>
              </a:rPr>
              <a:t>18,5%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508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50876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645919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Claims 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92024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D7D31"/>
                </a:solidFill>
                <a:latin typeface="Arial"/>
              </a:rPr>
              <a:t>~R$ 513M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Fusão com a CBO cria o 2º maior OSV do Brasil sem diluir claims judiciais aos acionistas atuais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Combinada mar/2026 — 73 embarcações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Gradus; Market 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Market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Sinergias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R$ 100M+/ano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Acionistas OPCT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42%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05740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057400"/>
            <a:ext cx="2697480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194560"/>
            <a:ext cx="24780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Arial"/>
              </a:rPr>
              <a:t>CADE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68880"/>
            <a:ext cx="2478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8080"/>
                </a:solidFill>
                <a:latin typeface="Arial"/>
              </a:rPr>
              <a:t>2T–3T26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63240"/>
            <a:ext cx="111556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Ação preferencial preserva UP Coral (~R$ 400M VP) para base atual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95959"/>
                </a:solidFill>
                <a:latin typeface="Arial"/>
              </a:rPr>
              <a:t>→ Dívida CBO FMM 5,8% vs OPCT 7,5% → LPA combinado maior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Só para igualar o múltiplo da WSUT, a OceanPact teria ~30% de upside; na média setorial, ~116%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Benchmark: aquisição Tidewater / Wilson Sons Ultratug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3387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Tidewater; estimativas Market 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Múltiplo WSUT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548235"/>
                </a:solidFill>
                <a:latin typeface="Arial"/>
              </a:rPr>
              <a:t>+30%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Média setorial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2060"/>
                </a:solidFill>
                <a:latin typeface="Arial"/>
              </a:rPr>
              <a:t>+116%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69164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2060"/>
                </a:solidFill>
                <a:latin typeface="Arial"/>
              </a:rPr>
              <a:t>Disciplina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8600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D7D31"/>
                </a:solidFill>
                <a:latin typeface="Arial"/>
              </a:rPr>
              <a:t>Não ganhou a qualquer preço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Concentração na Petrobras e integração CBO são os principais riscos a monitorar na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Riscos da tese — Market Makers FIA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15568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39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Arial"/>
              </a:rPr>
              <a:t>Capital intensity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39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CAPEX, docagens, alocação de ativos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59152"/>
            <a:ext cx="111556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Arial"/>
              </a:rPr>
              <a:t>Petrobras 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9631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Cronograma, licitações, pagamentos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63824"/>
            <a:ext cx="1115568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00984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Arial"/>
              </a:rPr>
              <a:t>Fusão CBO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00984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Sinergias, CADE, cultura operacional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68496"/>
            <a:ext cx="111556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05656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Arial"/>
              </a:rPr>
              <a:t>Ciclo óleo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05656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Brent, capex, E&amp;P discricionário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73168"/>
            <a:ext cx="11155680" cy="7132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1032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0000"/>
                </a:solidFill>
                <a:latin typeface="Arial"/>
              </a:rPr>
              <a:t>Overhang 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10328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Vinci/Patria ~44% — saída sem Oslo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offshore brasileiro mudou estruturalmente — OceanPact oferece a melhor relação risco-retorno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Conclusão — convicção Market Makers 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2060"/>
                </a:solidFill>
                <a:latin typeface="Arial"/>
              </a:rPr>
              <a:t>Escassez + cabotagem = barreira de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585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5856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2060"/>
                </a:solidFill>
                <a:latin typeface="Arial"/>
              </a:rPr>
              <a:t>EBITDA contratado +88% cobertura em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693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2060"/>
                </a:solidFill>
                <a:latin typeface="Arial"/>
              </a:rPr>
              <a:t>Caixa operacional + claims → payout robusto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530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75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2060"/>
                </a:solidFill>
                <a:latin typeface="Arial"/>
              </a:rPr>
              <a:t>Múltiplo mais baixo do setor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336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8235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336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02060"/>
                </a:solidFill>
                <a:latin typeface="Arial"/>
              </a:rPr>
              <a:t>Fusão CBO fortalece escala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Material educativo baseado em relatório Market Makers FIA (mai/2026). Não constitui recomendação de investimento. Ver disclaimer no documento original.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